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 Introduce </a:t>
            </a:r>
            <a:r>
              <a:rPr dirty="0" err="1"/>
              <a:t>AgentIQ</a:t>
            </a:r>
            <a:r>
              <a:rPr dirty="0"/>
              <a:t> as a payment-risk intelligence platform built for investigation support.</a:t>
            </a:r>
          </a:p>
          <a:p>
            <a:r>
              <a:rPr dirty="0"/>
              <a:t>2. Frame the scope across payment surveillance, merchant analytics, graph intelligence, and governed AI.</a:t>
            </a:r>
          </a:p>
          <a:p>
            <a:r>
              <a:rPr dirty="0"/>
              <a:t>3. Clarify that the system surfaces risk indicators and suspicious patterns rather than confirmed fraud.</a:t>
            </a:r>
          </a:p>
          <a:p>
            <a:r>
              <a:rPr dirty="0"/>
              <a:t>4. Set the expectation for an eight-to-ten-minute walkthrough focused on evidence and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Walk through the payment lifecycle from customer action to reported dispute.</a:t>
            </a:r>
          </a:p>
          <a:p>
            <a:r>
              <a:t>2. Explain that each stage contributes a different risk signal and a different data-quality challenge.</a:t>
            </a:r>
          </a:p>
          <a:p>
            <a:r>
              <a:t>3. Emphasize the limitation of monitoring each row or table in isolation.</a:t>
            </a:r>
          </a:p>
          <a:p>
            <a:r>
              <a:t>4. Use 'suspicious pattern' and 'risk indicator' consistently; avoid declaring confirmed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Present the five pillars as one connected operating model, not five isolated features.</a:t>
            </a:r>
          </a:p>
          <a:p>
            <a:r>
              <a:t>2. The sequence starts with reliable data because every downstream indicator depends on traceable inputs.</a:t>
            </a:r>
          </a:p>
          <a:p>
            <a:r>
              <a:t>3. Explainability and auditability remain explicit design goals across metrics, graphs, and AI outputs.</a:t>
            </a:r>
          </a:p>
          <a:p>
            <a:r>
              <a:t>4. The platform supports analyst judgment and investigation prioritization.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Introduce the four source datasets and the role each one plays in the analytical model.</a:t>
            </a:r>
          </a:p>
          <a:p>
            <a:r>
              <a:t>2. Call out that the clean record count reflects duplicate removal, not unjustified row deletion.</a:t>
            </a:r>
          </a:p>
          <a:p>
            <a:r>
              <a:t>3. Keep Aadhaar and PAN references limited to format indicators; the system does not claim identity verification.</a:t>
            </a:r>
          </a:p>
          <a:p>
            <a:r>
              <a:t>4. The fields shown are the supplied schema elements used for analysis and audit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Explain that the rescue pipeline standardizes formats before calculating any risk indicator.</a:t>
            </a:r>
          </a:p>
          <a:p>
            <a:r>
              <a:t>2. Use the audit table to reconcile raw, clean, and duplicate counts by dataset.</a:t>
            </a:r>
          </a:p>
          <a:p>
            <a:r>
              <a:t>3. Highlight the distinction between aggregate retention and retention of unique records.</a:t>
            </a:r>
          </a:p>
          <a:p>
            <a:r>
              <a:t>4. Missing-value indicators remain available so analysts can assess data quality alongside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Follow the top row from raw files through the dashboard to show the reproducible analytical path.</a:t>
            </a:r>
          </a:p>
          <a:p>
            <a:r>
              <a:t>2. Then explain the AI branch as a controlled query workflow with validation before execution.</a:t>
            </a:r>
          </a:p>
          <a:p>
            <a:r>
              <a:t>3. DuckDB provides the common analytical boundary for dashboard metrics and generated SQL.</a:t>
            </a:r>
          </a:p>
          <a:p>
            <a:r>
              <a:t>4. The architecture keeps human review, transparent SQL, and approved data access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Anchor the discussion in the five supplied executive KPIs and preserve their stated units.</a:t>
            </a:r>
          </a:p>
          <a:p>
            <a:r>
              <a:t>2. Use the supporting metrics to add record volume, UTR completeness, and reporting-delay context.</a:t>
            </a:r>
          </a:p>
          <a:p>
            <a:r>
              <a:t>3. The four placeholders indicate where verified dashboard captures should be inserted before a live presentation.</a:t>
            </a:r>
          </a:p>
          <a:p>
            <a:r>
              <a:t>4. Clarify that dashboard thresholds rank priorities for review rather than prove fraudulent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Explain the Merchant Risk Center as a ranking and comparison workspace.</a:t>
            </a:r>
          </a:p>
          <a:p>
            <a:r>
              <a:t>2. Read the formula components as separate signals: dispute exposure, failures, and dispute frequency.</a:t>
            </a:r>
          </a:p>
          <a:p>
            <a:r>
              <a:t>3. The cap at 100 keeps the composite score interpretable within a bounded scale.</a:t>
            </a:r>
          </a:p>
          <a:p>
            <a:r>
              <a:t>4. Reinforce that the score prioritizes investigation and does not determine guilt or confirmed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Describe the engine as a per-user hourly baseline rather than a single global threshold.</a:t>
            </a:r>
          </a:p>
          <a:p>
            <a:r>
              <a:t>2. The displayed points are a schematic illustration; they do not represent measured users or fabricated results.</a:t>
            </a:r>
          </a:p>
          <a:p>
            <a:r>
              <a:t>3. Explain the supplied severity bands at Z-scores above 1.5, 2, and 3.</a:t>
            </a:r>
          </a:p>
          <a:p>
            <a:r>
              <a:t>4. Each alert remains a risk signal that requires contextual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Explain nodes as users and merchants, with directed edges for successful transaction flows.</a:t>
            </a:r>
          </a:p>
          <a:p>
            <a:r>
              <a:t>2. Reported disputes change node highlighting so investigators can see concentration and connectivity together.</a:t>
            </a:r>
          </a:p>
          <a:p>
            <a:r>
              <a:t>3. Degree centrality and connected components help identify hubs and clusters worth reviewing.</a:t>
            </a:r>
          </a:p>
          <a:p>
            <a:r>
              <a:t>4. The network diagram represents the model structure; it does not claim a specific fraud ring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Position KYC status and customer risk segment as context for payment behavior and reported disputes.</a:t>
            </a:r>
          </a:p>
          <a:p>
            <a:r>
              <a:t>2. Repeatedly disputed IDs indicate review priority, not a fraud determination.</a:t>
            </a:r>
          </a:p>
          <a:p>
            <a:r>
              <a:t>3. Sensitive identity fields stay out of AI narrative prompts to reduce privacy exposure.</a:t>
            </a:r>
          </a:p>
          <a:p>
            <a:r>
              <a:t>4. State explicitly that Aadhaar validation covers format only and does not perform identity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1. Walk through the nine-step flow from a preset or question to a chart, findings, and visible SQL.</a:t>
            </a:r>
          </a:p>
          <a:p>
            <a:r>
              <a:rPr dirty="0"/>
              <a:t>2. Overview questions can be answered locally; analytical questions use </a:t>
            </a:r>
            <a:r>
              <a:rPr dirty="0" err="1"/>
              <a:t>Groq</a:t>
            </a:r>
            <a:r>
              <a:rPr dirty="0"/>
              <a:t> for SQL generation.</a:t>
            </a:r>
          </a:p>
          <a:p>
            <a:r>
              <a:rPr dirty="0"/>
              <a:t>3. </a:t>
            </a:r>
            <a:r>
              <a:rPr dirty="0" err="1"/>
              <a:t>SQLGlot</a:t>
            </a:r>
            <a:r>
              <a:rPr dirty="0"/>
              <a:t> and </a:t>
            </a:r>
            <a:r>
              <a:rPr dirty="0" err="1"/>
              <a:t>DuckDB</a:t>
            </a:r>
            <a:r>
              <a:rPr dirty="0"/>
              <a:t> validate the statement before it reaches the approved in-memory datasets.</a:t>
            </a:r>
          </a:p>
          <a:p>
            <a:r>
              <a:rPr dirty="0"/>
              <a:t>4. Highlight the explicit limits on query type, rows, memory, execution time, and sensitive fields.</a:t>
            </a:r>
          </a:p>
          <a:p>
            <a:r>
              <a:rPr dirty="0"/>
              <a:t>5. The AI produces evidence-based findings but keeps the analyst in control through transparent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Show evaluators that the project can be installed, configured, run, and tested from documented commands.</a:t>
            </a:r>
          </a:p>
          <a:p>
            <a:r>
              <a:t>2. Separate application execution from cleaning-only verification so data rescue can be checked independently.</a:t>
            </a:r>
          </a:p>
          <a:p>
            <a:r>
              <a:t>3. Point to the evidence files that document the pipeline, data dictionary, and audit proof.</a:t>
            </a:r>
          </a:p>
          <a:p>
            <a:r>
              <a:t>4. The data dictionary provides column-level lineage through type, meaning, key role, and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1. Close on the four outcomes: faster prioritization, explainability, network context, and transparent AI.</a:t>
            </a:r>
          </a:p>
          <a:p>
            <a:r>
              <a:t>2. Connect the conclusion back to the governed pipeline rather than presenting isolated analytical features.</a:t>
            </a:r>
          </a:p>
          <a:p>
            <a:r>
              <a:t>3. Remind the audience that risk indicators support investigation and do not declare confirmed fraud.</a:t>
            </a:r>
          </a:p>
          <a:p>
            <a:r>
              <a:t>4. End with the final line and pause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l="27" r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3EDF34-AE0B-48D0-9884-1FA6098725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0E">
              <a:alpha val="60000"/>
            </a:srgbClr>
          </a:solidFill>
          <a:ln w="0">
            <a:solidFill>
              <a:srgbClr val="07090E">
                <a:alpha val="0"/>
              </a:srgbClr>
            </a:solidFill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A7DEE5-242B-4ED7-B6EC-6255C2F46F96}"/>
              </a:ext>
            </a:extLst>
          </p:cNvPr>
          <p:cNvSpPr>
            <a:spLocks noGrp="1"/>
          </p:cNvSpPr>
          <p:nvPr/>
        </p:nvSpPr>
        <p:spPr>
          <a:xfrm>
            <a:off x="514350" y="819150"/>
            <a:ext cx="57150" cy="20383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F509F6-53E3-44BD-A630-DE202BFD827B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6096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48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4800" b="1" dirty="0" err="1">
                <a:solidFill>
                  <a:srgbClr val="EEF0F8"/>
                </a:solidFill>
                <a:latin typeface="Arial"/>
                <a:ea typeface="Arial"/>
                <a:cs typeface="Arial"/>
              </a:rPr>
              <a:t>AgentIQ</a:t>
            </a:r>
            <a:r>
              <a:rPr sz="48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 FinTech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5979A6-060D-40B4-960F-6014E13A5051}"/>
              </a:ext>
            </a:extLst>
          </p:cNvPr>
          <p:cNvSpPr>
            <a:spLocks noGrp="1"/>
          </p:cNvSpPr>
          <p:nvPr/>
        </p:nvSpPr>
        <p:spPr>
          <a:xfrm>
            <a:off x="800100" y="1676400"/>
            <a:ext cx="6191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111"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UPI Fraud Ring &amp; Merchant Risk Intelligence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0640C-46C1-40B2-BEB5-F8CEAB034E07}"/>
              </a:ext>
            </a:extLst>
          </p:cNvPr>
          <p:cNvSpPr>
            <a:spLocks noGrp="1"/>
          </p:cNvSpPr>
          <p:nvPr/>
        </p:nvSpPr>
        <p:spPr>
          <a:xfrm>
            <a:off x="800100" y="2409825"/>
            <a:ext cx="5619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8B95B0"/>
                </a:solidFill>
                <a:latin typeface="Arial"/>
                <a:ea typeface="Arial"/>
                <a:cs typeface="Arial"/>
              </a:rPr>
              <a:t>Enterprise payment surveillance, merchant-risk analytics, graph intelligence, and AI-assisted investigation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5E3808-E4BF-473D-B947-DA4114AD716A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22669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C6C515-B336-4E52-B186-B6A0C3279521}"/>
              </a:ext>
            </a:extLst>
          </p:cNvPr>
          <p:cNvSpPr>
            <a:spLocks noGrp="1"/>
          </p:cNvSpPr>
          <p:nvPr/>
        </p:nvSpPr>
        <p:spPr>
          <a:xfrm>
            <a:off x="838200" y="35433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039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TRANSORG AGENTIQ DATATHON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7CCAB0-E80E-41EF-9390-29B5C4BEA3E2}"/>
              </a:ext>
            </a:extLst>
          </p:cNvPr>
          <p:cNvSpPr>
            <a:spLocks noGrp="1"/>
          </p:cNvSpPr>
          <p:nvPr/>
        </p:nvSpPr>
        <p:spPr>
          <a:xfrm>
            <a:off x="3181350" y="3524250"/>
            <a:ext cx="1952625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C4E14A-6C54-45D3-BE1D-7FF269620804}"/>
              </a:ext>
            </a:extLst>
          </p:cNvPr>
          <p:cNvSpPr>
            <a:spLocks noGrp="1"/>
          </p:cNvSpPr>
          <p:nvPr/>
        </p:nvSpPr>
        <p:spPr>
          <a:xfrm>
            <a:off x="3219450" y="3543300"/>
            <a:ext cx="18764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TRACK 1: FINTECH &amp; BFSI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965E93-80F5-4B73-92A9-AE245D0E74F5}"/>
              </a:ext>
            </a:extLst>
          </p:cNvPr>
          <p:cNvSpPr>
            <a:spLocks noGrp="1"/>
          </p:cNvSpPr>
          <p:nvPr/>
        </p:nvSpPr>
        <p:spPr>
          <a:xfrm>
            <a:off x="800100" y="6115050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RISK INTELLIGENCE PLATFORM</a:t>
            </a:r>
          </a:p>
        </p:txBody>
      </p:sp>
    </p:spTree>
    <p:extLst>
      <p:ext uri="{BB962C8B-B14F-4D97-AF65-F5344CB8AC3E}">
        <p14:creationId xmlns:p14="http://schemas.microsoft.com/office/powerpoint/2010/main" val="1623769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EAE6C78F-8171-4D91-922D-38CA3C7AB7A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Payment risk spans the full transaction lifecycle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9E6DA1-91ED-4204-B5EA-D949FFA65CC8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5D5A91-8118-4785-8BD5-2E6D3935DFC6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111CE2-468A-4613-B128-961CFA531AF7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DCFE9-970A-4C98-9895-8A0C224BCADF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C766A7-2D5C-41D2-B431-C5902954BA27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10141F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A4EB1-2597-4215-AA52-AF4FA30BECE4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B12266-D538-4C2B-ADB5-1C104C30BCEB}"/>
              </a:ext>
            </a:extLst>
          </p:cNvPr>
          <p:cNvSpPr>
            <a:spLocks noGrp="1"/>
          </p:cNvSpPr>
          <p:nvPr/>
        </p:nvSpPr>
        <p:spPr>
          <a:xfrm>
            <a:off x="685800" y="1724025"/>
            <a:ext cx="13335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identity + behavior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CA7359-C53D-456A-96EF-B22994457FA6}"/>
              </a:ext>
            </a:extLst>
          </p:cNvPr>
          <p:cNvSpPr>
            <a:spLocks noGrp="1"/>
          </p:cNvSpPr>
          <p:nvPr/>
        </p:nvSpPr>
        <p:spPr>
          <a:xfrm>
            <a:off x="2686050" y="1428750"/>
            <a:ext cx="1619250" cy="609600"/>
          </a:xfrm>
          <a:prstGeom prst="roundRect">
            <a:avLst>
              <a:gd name="adj" fmla="val 1875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50A47C-3684-4F14-93C9-607617DAA091}"/>
              </a:ext>
            </a:extLst>
          </p:cNvPr>
          <p:cNvSpPr>
            <a:spLocks noGrp="1"/>
          </p:cNvSpPr>
          <p:nvPr/>
        </p:nvSpPr>
        <p:spPr>
          <a:xfrm>
            <a:off x="2781300" y="1504950"/>
            <a:ext cx="1428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UPI transaction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62469C-2F2C-4401-80E1-6E0E1661CF1C}"/>
              </a:ext>
            </a:extLst>
          </p:cNvPr>
          <p:cNvSpPr>
            <a:spLocks noGrp="1"/>
          </p:cNvSpPr>
          <p:nvPr/>
        </p:nvSpPr>
        <p:spPr>
          <a:xfrm>
            <a:off x="2781300" y="1724025"/>
            <a:ext cx="142875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amount + UTR + status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660E67-189A-45DE-9D5A-485452D1A746}"/>
              </a:ext>
            </a:extLst>
          </p:cNvPr>
          <p:cNvSpPr>
            <a:spLocks noGrp="1"/>
          </p:cNvSpPr>
          <p:nvPr/>
        </p:nvSpPr>
        <p:spPr>
          <a:xfrm>
            <a:off x="4876800" y="142875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1014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9CECB8-4539-4124-8C99-67D8AA237A69}"/>
              </a:ext>
            </a:extLst>
          </p:cNvPr>
          <p:cNvSpPr>
            <a:spLocks noGrp="1"/>
          </p:cNvSpPr>
          <p:nvPr/>
        </p:nvSpPr>
        <p:spPr>
          <a:xfrm>
            <a:off x="4972050" y="1504950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Merchant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1D41-69D9-4F8D-9213-820A195C236F}"/>
              </a:ext>
            </a:extLst>
          </p:cNvPr>
          <p:cNvSpPr>
            <a:spLocks noGrp="1"/>
          </p:cNvSpPr>
          <p:nvPr/>
        </p:nvSpPr>
        <p:spPr>
          <a:xfrm>
            <a:off x="4972050" y="1724025"/>
            <a:ext cx="13335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profile + category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BBFB86-951C-48CD-B351-FCDDFDE4CCA7}"/>
              </a:ext>
            </a:extLst>
          </p:cNvPr>
          <p:cNvSpPr>
            <a:spLocks noGrp="1"/>
          </p:cNvSpPr>
          <p:nvPr/>
        </p:nvSpPr>
        <p:spPr>
          <a:xfrm>
            <a:off x="6972300" y="142875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10141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0BBAD7-31F9-4A3C-8762-449EBEC75344}"/>
              </a:ext>
            </a:extLst>
          </p:cNvPr>
          <p:cNvSpPr>
            <a:spLocks noGrp="1"/>
          </p:cNvSpPr>
          <p:nvPr/>
        </p:nvSpPr>
        <p:spPr>
          <a:xfrm>
            <a:off x="7067550" y="1504950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Settlement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7CCF0D-00AC-426A-9792-23D9BC8504C8}"/>
              </a:ext>
            </a:extLst>
          </p:cNvPr>
          <p:cNvSpPr>
            <a:spLocks noGrp="1"/>
          </p:cNvSpPr>
          <p:nvPr/>
        </p:nvSpPr>
        <p:spPr>
          <a:xfrm>
            <a:off x="7067550" y="1724025"/>
            <a:ext cx="13335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payment outcome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E805EA-DB06-4B89-AD61-A9C74BC55F69}"/>
              </a:ext>
            </a:extLst>
          </p:cNvPr>
          <p:cNvSpPr>
            <a:spLocks noGrp="1"/>
          </p:cNvSpPr>
          <p:nvPr/>
        </p:nvSpPr>
        <p:spPr>
          <a:xfrm>
            <a:off x="9067800" y="142875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10141F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A91551-1497-47C2-A419-071171FDFF93}"/>
              </a:ext>
            </a:extLst>
          </p:cNvPr>
          <p:cNvSpPr>
            <a:spLocks noGrp="1"/>
          </p:cNvSpPr>
          <p:nvPr/>
        </p:nvSpPr>
        <p:spPr>
          <a:xfrm>
            <a:off x="9163050" y="1504950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Dispute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E8A0E7-FA21-4048-8F50-22CEB3E30B16}"/>
              </a:ext>
            </a:extLst>
          </p:cNvPr>
          <p:cNvSpPr>
            <a:spLocks noGrp="1"/>
          </p:cNvSpPr>
          <p:nvPr/>
        </p:nvSpPr>
        <p:spPr>
          <a:xfrm>
            <a:off x="9163050" y="1724025"/>
            <a:ext cx="13335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reason + delay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B5AE20-2C09-49D7-98A1-4E7B7F4F1D76}"/>
              </a:ext>
            </a:extLst>
          </p:cNvPr>
          <p:cNvSpPr>
            <a:spLocks noGrp="1"/>
          </p:cNvSpPr>
          <p:nvPr/>
        </p:nvSpPr>
        <p:spPr>
          <a:xfrm>
            <a:off x="2114550" y="15906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F0C961-E0CB-433F-8CC4-92535647D684}"/>
              </a:ext>
            </a:extLst>
          </p:cNvPr>
          <p:cNvSpPr>
            <a:spLocks noGrp="1"/>
          </p:cNvSpPr>
          <p:nvPr/>
        </p:nvSpPr>
        <p:spPr>
          <a:xfrm>
            <a:off x="4305300" y="15906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9EF896-823A-40A6-9E09-66DF3F6A024A}"/>
              </a:ext>
            </a:extLst>
          </p:cNvPr>
          <p:cNvSpPr>
            <a:spLocks noGrp="1"/>
          </p:cNvSpPr>
          <p:nvPr/>
        </p:nvSpPr>
        <p:spPr>
          <a:xfrm>
            <a:off x="6400800" y="15906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A38009-53B1-4EB0-B2CC-71C0FD7FBE10}"/>
              </a:ext>
            </a:extLst>
          </p:cNvPr>
          <p:cNvSpPr>
            <a:spLocks noGrp="1"/>
          </p:cNvSpPr>
          <p:nvPr/>
        </p:nvSpPr>
        <p:spPr>
          <a:xfrm>
            <a:off x="8496300" y="15906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103C1CB-162E-4946-AB8D-742E7F839E28}"/>
              </a:ext>
            </a:extLst>
          </p:cNvPr>
          <p:cNvSpPr>
            <a:spLocks noGrp="1"/>
          </p:cNvSpPr>
          <p:nvPr/>
        </p:nvSpPr>
        <p:spPr>
          <a:xfrm>
            <a:off x="10801350" y="1428750"/>
            <a:ext cx="666750" cy="609600"/>
          </a:xfrm>
          <a:prstGeom prst="roundRect">
            <a:avLst>
              <a:gd name="adj" fmla="val 18750"/>
            </a:avLst>
          </a:prstGeom>
          <a:solidFill>
            <a:srgbClr val="151929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321B86-13B7-4FF7-BE01-A3940B951A08}"/>
              </a:ext>
            </a:extLst>
          </p:cNvPr>
          <p:cNvSpPr>
            <a:spLocks noGrp="1"/>
          </p:cNvSpPr>
          <p:nvPr/>
        </p:nvSpPr>
        <p:spPr>
          <a:xfrm>
            <a:off x="10839450" y="1533525"/>
            <a:ext cx="590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RISK</a:t>
            </a:r>
          </a:p>
          <a:p>
            <a:pPr algn="ctr">
              <a:lnSpc>
                <a:spcPct val="100000"/>
              </a:lnSpc>
              <a:buNone/>
              <a:defRPr sz="10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VIEW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A3CCA2-5770-46BE-B460-7D9EB5AC2D1C}"/>
              </a:ext>
            </a:extLst>
          </p:cNvPr>
          <p:cNvSpPr>
            <a:spLocks noGrp="1"/>
          </p:cNvSpPr>
          <p:nvPr/>
        </p:nvSpPr>
        <p:spPr>
          <a:xfrm>
            <a:off x="10591800" y="1590675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8466BEC-C083-4BA1-92F4-3DA56261CF92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2457450" cy="857250"/>
          </a:xfrm>
          <a:prstGeom prst="roundRect">
            <a:avLst>
              <a:gd name="adj" fmla="val 1333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9FADAF-5E5E-47F9-9E03-E6AB457B29D1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819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VELOCITY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AA1A51-E2CF-4406-A230-F7D9AD80D6A2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High-velocity anomalies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2873EAA-1C04-4D1A-8A7D-435A9C48C3FF}"/>
              </a:ext>
            </a:extLst>
          </p:cNvPr>
          <p:cNvSpPr>
            <a:spLocks noGrp="1"/>
          </p:cNvSpPr>
          <p:nvPr/>
        </p:nvSpPr>
        <p:spPr>
          <a:xfrm>
            <a:off x="3333750" y="2952750"/>
            <a:ext cx="2457450" cy="857250"/>
          </a:xfrm>
          <a:prstGeom prst="roundRect">
            <a:avLst>
              <a:gd name="adj" fmla="val 1333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D59C00-E9A1-40D5-A624-011915D60E66}"/>
              </a:ext>
            </a:extLst>
          </p:cNvPr>
          <p:cNvSpPr>
            <a:spLocks noGrp="1"/>
          </p:cNvSpPr>
          <p:nvPr/>
        </p:nvSpPr>
        <p:spPr>
          <a:xfrm>
            <a:off x="3486150" y="3067050"/>
            <a:ext cx="819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MERCHANT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7F5B59-7164-499E-B6CF-3F665BD260F5}"/>
              </a:ext>
            </a:extLst>
          </p:cNvPr>
          <p:cNvSpPr>
            <a:spLocks noGrp="1"/>
          </p:cNvSpPr>
          <p:nvPr/>
        </p:nvSpPr>
        <p:spPr>
          <a:xfrm>
            <a:off x="3486150" y="32956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796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Rogue or compromised merchants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7A6DFD1-4CAF-44EE-A5C3-B32F218472AC}"/>
              </a:ext>
            </a:extLst>
          </p:cNvPr>
          <p:cNvSpPr>
            <a:spLocks noGrp="1"/>
          </p:cNvSpPr>
          <p:nvPr/>
        </p:nvSpPr>
        <p:spPr>
          <a:xfrm>
            <a:off x="6076950" y="2952750"/>
            <a:ext cx="2457450" cy="857250"/>
          </a:xfrm>
          <a:prstGeom prst="roundRect">
            <a:avLst>
              <a:gd name="adj" fmla="val 1333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E3EDF1-B757-47F0-9C44-01720FE04564}"/>
              </a:ext>
            </a:extLst>
          </p:cNvPr>
          <p:cNvSpPr>
            <a:spLocks noGrp="1"/>
          </p:cNvSpPr>
          <p:nvPr/>
        </p:nvSpPr>
        <p:spPr>
          <a:xfrm>
            <a:off x="6229350" y="3067050"/>
            <a:ext cx="819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DISPUTE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B57F45-A9E7-4D58-9F5C-BF8F959D5E0F}"/>
              </a:ext>
            </a:extLst>
          </p:cNvPr>
          <p:cNvSpPr>
            <a:spLocks noGrp="1"/>
          </p:cNvSpPr>
          <p:nvPr/>
        </p:nvSpPr>
        <p:spPr>
          <a:xfrm>
            <a:off x="6229350" y="32956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5819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Chargeback concentration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9E5D266-5CB1-4D32-BC5A-ADD0530C7768}"/>
              </a:ext>
            </a:extLst>
          </p:cNvPr>
          <p:cNvSpPr>
            <a:spLocks noGrp="1"/>
          </p:cNvSpPr>
          <p:nvPr/>
        </p:nvSpPr>
        <p:spPr>
          <a:xfrm>
            <a:off x="8820150" y="2952750"/>
            <a:ext cx="2457450" cy="857250"/>
          </a:xfrm>
          <a:prstGeom prst="roundRect">
            <a:avLst>
              <a:gd name="adj" fmla="val 1333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A90CA53-BC29-496D-912C-FEEAD022F0C2}"/>
              </a:ext>
            </a:extLst>
          </p:cNvPr>
          <p:cNvSpPr>
            <a:spLocks noGrp="1"/>
          </p:cNvSpPr>
          <p:nvPr/>
        </p:nvSpPr>
        <p:spPr>
          <a:xfrm>
            <a:off x="8972550" y="3067050"/>
            <a:ext cx="819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UTR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9E6787-EF09-4595-BBB2-1704D51F2D85}"/>
              </a:ext>
            </a:extLst>
          </p:cNvPr>
          <p:cNvSpPr>
            <a:spLocks noGrp="1"/>
          </p:cNvSpPr>
          <p:nvPr/>
        </p:nvSpPr>
        <p:spPr>
          <a:xfrm>
            <a:off x="8972550" y="32956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796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Missing or inconsistent UTR records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9166D5-D308-43DC-9460-69EC6C064178}"/>
              </a:ext>
            </a:extLst>
          </p:cNvPr>
          <p:cNvSpPr>
            <a:spLocks noGrp="1"/>
          </p:cNvSpPr>
          <p:nvPr/>
        </p:nvSpPr>
        <p:spPr>
          <a:xfrm>
            <a:off x="590550" y="4057650"/>
            <a:ext cx="2457450" cy="857250"/>
          </a:xfrm>
          <a:prstGeom prst="roundRect">
            <a:avLst>
              <a:gd name="adj" fmla="val 1333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C069916-BA69-47B3-B4B9-14276607F7DE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819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D0A2FAA-682E-4B99-A7E2-F7B32AF0E170}"/>
              </a:ext>
            </a:extLst>
          </p:cNvPr>
          <p:cNvSpPr>
            <a:spLocks noGrp="1"/>
          </p:cNvSpPr>
          <p:nvPr/>
        </p:nvSpPr>
        <p:spPr>
          <a:xfrm>
            <a:off x="742950" y="44005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796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Synthetic or high-risk identities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569197E-B890-4176-87DA-CB1B89D45428}"/>
              </a:ext>
            </a:extLst>
          </p:cNvPr>
          <p:cNvSpPr>
            <a:spLocks noGrp="1"/>
          </p:cNvSpPr>
          <p:nvPr/>
        </p:nvSpPr>
        <p:spPr>
          <a:xfrm>
            <a:off x="3333750" y="4057650"/>
            <a:ext cx="2457450" cy="857250"/>
          </a:xfrm>
          <a:prstGeom prst="roundRect">
            <a:avLst>
              <a:gd name="adj" fmla="val 1333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B62E32-5D06-4A57-BF75-3FE254787507}"/>
              </a:ext>
            </a:extLst>
          </p:cNvPr>
          <p:cNvSpPr>
            <a:spLocks noGrp="1"/>
          </p:cNvSpPr>
          <p:nvPr/>
        </p:nvSpPr>
        <p:spPr>
          <a:xfrm>
            <a:off x="3486150" y="4171950"/>
            <a:ext cx="819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DELAY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31B4425-E0E3-4999-8BCD-4193FDEDD914}"/>
              </a:ext>
            </a:extLst>
          </p:cNvPr>
          <p:cNvSpPr>
            <a:spLocks noGrp="1"/>
          </p:cNvSpPr>
          <p:nvPr/>
        </p:nvSpPr>
        <p:spPr>
          <a:xfrm>
            <a:off x="3486150" y="44005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225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Delayed dispute reporting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FC3CC83-3570-458B-BFA8-320B00055CD4}"/>
              </a:ext>
            </a:extLst>
          </p:cNvPr>
          <p:cNvSpPr>
            <a:spLocks noGrp="1"/>
          </p:cNvSpPr>
          <p:nvPr/>
        </p:nvSpPr>
        <p:spPr>
          <a:xfrm>
            <a:off x="6076950" y="4057650"/>
            <a:ext cx="2457450" cy="857250"/>
          </a:xfrm>
          <a:prstGeom prst="roundRect">
            <a:avLst>
              <a:gd name="adj" fmla="val 1333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6B0C405-5155-488D-970F-86C0F84482C9}"/>
              </a:ext>
            </a:extLst>
          </p:cNvPr>
          <p:cNvSpPr>
            <a:spLocks noGrp="1"/>
          </p:cNvSpPr>
          <p:nvPr/>
        </p:nvSpPr>
        <p:spPr>
          <a:xfrm>
            <a:off x="6229350" y="4171950"/>
            <a:ext cx="819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CE096AF-755C-417E-BEB6-5C279CC9F26A}"/>
              </a:ext>
            </a:extLst>
          </p:cNvPr>
          <p:cNvSpPr>
            <a:spLocks noGrp="1"/>
          </p:cNvSpPr>
          <p:nvPr/>
        </p:nvSpPr>
        <p:spPr>
          <a:xfrm>
            <a:off x="6229350" y="44005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796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Connected suspicious payment networks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DC3B092-2337-4324-B098-56EBE6E90ED7}"/>
              </a:ext>
            </a:extLst>
          </p:cNvPr>
          <p:cNvSpPr>
            <a:spLocks noGrp="1"/>
          </p:cNvSpPr>
          <p:nvPr/>
        </p:nvSpPr>
        <p:spPr>
          <a:xfrm>
            <a:off x="8820150" y="4057650"/>
            <a:ext cx="2457450" cy="857250"/>
          </a:xfrm>
          <a:prstGeom prst="roundRect">
            <a:avLst>
              <a:gd name="adj" fmla="val 1333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1C1FDD-641C-4535-BFB7-8505B9A63355}"/>
              </a:ext>
            </a:extLst>
          </p:cNvPr>
          <p:cNvSpPr>
            <a:spLocks noGrp="1"/>
          </p:cNvSpPr>
          <p:nvPr/>
        </p:nvSpPr>
        <p:spPr>
          <a:xfrm>
            <a:off x="8972550" y="4171950"/>
            <a:ext cx="819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77AFDDE-5AAA-4D90-9378-E961417951EB}"/>
              </a:ext>
            </a:extLst>
          </p:cNvPr>
          <p:cNvSpPr>
            <a:spLocks noGrp="1"/>
          </p:cNvSpPr>
          <p:nvPr/>
        </p:nvSpPr>
        <p:spPr>
          <a:xfrm>
            <a:off x="8972550" y="4400550"/>
            <a:ext cx="2152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796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Fragmented or corrupted sources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231BB57-3964-404A-99FD-0B0D6F44DD4A}"/>
              </a:ext>
            </a:extLst>
          </p:cNvPr>
          <p:cNvSpPr>
            <a:spLocks noGrp="1"/>
          </p:cNvSpPr>
          <p:nvPr/>
        </p:nvSpPr>
        <p:spPr>
          <a:xfrm>
            <a:off x="590550" y="5314950"/>
            <a:ext cx="10763250" cy="647700"/>
          </a:xfrm>
          <a:prstGeom prst="roundRect">
            <a:avLst>
              <a:gd name="adj" fmla="val 17647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A3D1075-80D1-4349-82F2-693C1E7A4348}"/>
              </a:ext>
            </a:extLst>
          </p:cNvPr>
          <p:cNvSpPr>
            <a:spLocks noGrp="1"/>
          </p:cNvSpPr>
          <p:nvPr/>
        </p:nvSpPr>
        <p:spPr>
          <a:xfrm>
            <a:off x="819150" y="5476875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6207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Row-level monitoring can miss coordinated patterns across transactions, merchants, identities, and reported disputes.</a:t>
            </a:r>
          </a:p>
        </p:txBody>
      </p:sp>
    </p:spTree>
    <p:extLst>
      <p:ext uri="{BB962C8B-B14F-4D97-AF65-F5344CB8AC3E}">
        <p14:creationId xmlns:p14="http://schemas.microsoft.com/office/powerpoint/2010/main" val="40510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59C5BC01-EA81-4BFA-97BB-D2012347F33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Five pillars create investigation-ready intelligence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B59D43-8E43-480C-BAEB-E64C7EB2E153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69DCE5-21BF-43A4-AB82-184690C657F8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7D08C-2806-497E-B61F-3CD355C93B0C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10EA7-1D92-42EC-BA42-22C3CF616130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FE5599-F816-40A0-906C-C368D1DA8650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2095500" cy="2705100"/>
          </a:xfrm>
          <a:prstGeom prst="roundRect">
            <a:avLst>
              <a:gd name="adj" fmla="val 727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A30AEE-7466-4668-807D-326D549A1E64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2095500" cy="57150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2B43AB-76CC-4BE1-9E5E-D05A5755BA92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F8D49-66C2-471D-919F-42BB91BEFCF2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1752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Data rescue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DB15BB-FE11-4723-A0BE-A65B90C14493}"/>
              </a:ext>
            </a:extLst>
          </p:cNvPr>
          <p:cNvSpPr>
            <a:spLocks noGrp="1"/>
          </p:cNvSpPr>
          <p:nvPr/>
        </p:nvSpPr>
        <p:spPr>
          <a:xfrm>
            <a:off x="666750" y="2800350"/>
            <a:ext cx="17526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Standardize corrupted financial datasets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4F2E10-0289-4C0C-B83C-F95DC1AC82A4}"/>
              </a:ext>
            </a:extLst>
          </p:cNvPr>
          <p:cNvSpPr>
            <a:spLocks noGrp="1"/>
          </p:cNvSpPr>
          <p:nvPr/>
        </p:nvSpPr>
        <p:spPr>
          <a:xfrm>
            <a:off x="2609850" y="255270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4203"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1E9B1D-4AAE-4E46-AB38-0A25F85607D6}"/>
              </a:ext>
            </a:extLst>
          </p:cNvPr>
          <p:cNvSpPr>
            <a:spLocks noGrp="1"/>
          </p:cNvSpPr>
          <p:nvPr/>
        </p:nvSpPr>
        <p:spPr>
          <a:xfrm>
            <a:off x="2819400" y="1524000"/>
            <a:ext cx="2095500" cy="2705100"/>
          </a:xfrm>
          <a:prstGeom prst="roundRect">
            <a:avLst>
              <a:gd name="adj" fmla="val 727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9151CC-B6C6-42DC-A975-D921B7B49728}"/>
              </a:ext>
            </a:extLst>
          </p:cNvPr>
          <p:cNvSpPr>
            <a:spLocks noGrp="1"/>
          </p:cNvSpPr>
          <p:nvPr/>
        </p:nvSpPr>
        <p:spPr>
          <a:xfrm>
            <a:off x="2819400" y="1524000"/>
            <a:ext cx="2095500" cy="57150"/>
          </a:xfrm>
          <a:prstGeom prst="roundRect">
            <a:avLst>
              <a:gd name="adj" fmla="val 33333"/>
            </a:avLst>
          </a:prstGeom>
          <a:solidFill>
            <a:srgbClr val="6366F1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C87EDA-A5BD-4A91-8FB3-E0046B0986F7}"/>
              </a:ext>
            </a:extLst>
          </p:cNvPr>
          <p:cNvSpPr>
            <a:spLocks noGrp="1"/>
          </p:cNvSpPr>
          <p:nvPr/>
        </p:nvSpPr>
        <p:spPr>
          <a:xfrm>
            <a:off x="2990850" y="1752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D9B48-7129-4F3E-B218-AFE47A602626}"/>
              </a:ext>
            </a:extLst>
          </p:cNvPr>
          <p:cNvSpPr>
            <a:spLocks noGrp="1"/>
          </p:cNvSpPr>
          <p:nvPr/>
        </p:nvSpPr>
        <p:spPr>
          <a:xfrm>
            <a:off x="2990850" y="2209800"/>
            <a:ext cx="1752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7302"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Governed warehouse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32FA04-6C60-40BC-A769-5B9108C7F8DF}"/>
              </a:ext>
            </a:extLst>
          </p:cNvPr>
          <p:cNvSpPr>
            <a:spLocks noGrp="1"/>
          </p:cNvSpPr>
          <p:nvPr/>
        </p:nvSpPr>
        <p:spPr>
          <a:xfrm>
            <a:off x="2990850" y="2800350"/>
            <a:ext cx="17526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Build an auditable analytical foundation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4BF4CB-1E32-481E-AA65-599E9A1EDEA0}"/>
              </a:ext>
            </a:extLst>
          </p:cNvPr>
          <p:cNvSpPr>
            <a:spLocks noGrp="1"/>
          </p:cNvSpPr>
          <p:nvPr/>
        </p:nvSpPr>
        <p:spPr>
          <a:xfrm>
            <a:off x="4933950" y="255270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4203"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B733BA2-8E8D-4956-92BA-BE895464A349}"/>
              </a:ext>
            </a:extLst>
          </p:cNvPr>
          <p:cNvSpPr>
            <a:spLocks noGrp="1"/>
          </p:cNvSpPr>
          <p:nvPr/>
        </p:nvSpPr>
        <p:spPr>
          <a:xfrm>
            <a:off x="5143500" y="1524000"/>
            <a:ext cx="2095500" cy="2705100"/>
          </a:xfrm>
          <a:prstGeom prst="roundRect">
            <a:avLst>
              <a:gd name="adj" fmla="val 727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25DD667-C48D-43B3-962C-B2D822B4DB37}"/>
              </a:ext>
            </a:extLst>
          </p:cNvPr>
          <p:cNvSpPr>
            <a:spLocks noGrp="1"/>
          </p:cNvSpPr>
          <p:nvPr/>
        </p:nvSpPr>
        <p:spPr>
          <a:xfrm>
            <a:off x="5143500" y="1524000"/>
            <a:ext cx="2095500" cy="571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184EE6-0A2B-4C49-B565-A62D482A5CC9}"/>
              </a:ext>
            </a:extLst>
          </p:cNvPr>
          <p:cNvSpPr>
            <a:spLocks noGrp="1"/>
          </p:cNvSpPr>
          <p:nvPr/>
        </p:nvSpPr>
        <p:spPr>
          <a:xfrm>
            <a:off x="5314950" y="1752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0DEAA3-11AA-4B42-AB19-7AD1A6D012A5}"/>
              </a:ext>
            </a:extLst>
          </p:cNvPr>
          <p:cNvSpPr>
            <a:spLocks noGrp="1"/>
          </p:cNvSpPr>
          <p:nvPr/>
        </p:nvSpPr>
        <p:spPr>
          <a:xfrm>
            <a:off x="5314950" y="2209800"/>
            <a:ext cx="1752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Risk metrics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ECAC68-C573-4897-8869-7A5E96C93753}"/>
              </a:ext>
            </a:extLst>
          </p:cNvPr>
          <p:cNvSpPr>
            <a:spLocks noGrp="1"/>
          </p:cNvSpPr>
          <p:nvPr/>
        </p:nvSpPr>
        <p:spPr>
          <a:xfrm>
            <a:off x="5314950" y="2800350"/>
            <a:ext cx="17526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Calculate transaction, merchant, KYC, and dispute indicators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4973C7-C3FC-46C0-B7EB-D3F8B249E0E5}"/>
              </a:ext>
            </a:extLst>
          </p:cNvPr>
          <p:cNvSpPr>
            <a:spLocks noGrp="1"/>
          </p:cNvSpPr>
          <p:nvPr/>
        </p:nvSpPr>
        <p:spPr>
          <a:xfrm>
            <a:off x="7258050" y="255270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4203"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66A0B2F-82C7-43B1-A81D-998284C789AE}"/>
              </a:ext>
            </a:extLst>
          </p:cNvPr>
          <p:cNvSpPr>
            <a:spLocks noGrp="1"/>
          </p:cNvSpPr>
          <p:nvPr/>
        </p:nvSpPr>
        <p:spPr>
          <a:xfrm>
            <a:off x="7467600" y="1524000"/>
            <a:ext cx="2095500" cy="2705100"/>
          </a:xfrm>
          <a:prstGeom prst="roundRect">
            <a:avLst>
              <a:gd name="adj" fmla="val 727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FFBE9E-D3CA-463E-B8B9-DC7D4FFD6ABF}"/>
              </a:ext>
            </a:extLst>
          </p:cNvPr>
          <p:cNvSpPr>
            <a:spLocks noGrp="1"/>
          </p:cNvSpPr>
          <p:nvPr/>
        </p:nvSpPr>
        <p:spPr>
          <a:xfrm>
            <a:off x="7467600" y="1524000"/>
            <a:ext cx="2095500" cy="57150"/>
          </a:xfrm>
          <a:prstGeom prst="roundRect">
            <a:avLst>
              <a:gd name="adj" fmla="val 33333"/>
            </a:avLst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EDA3B6-F92F-49E8-B7FC-BAA55FF61B17}"/>
              </a:ext>
            </a:extLst>
          </p:cNvPr>
          <p:cNvSpPr>
            <a:spLocks noGrp="1"/>
          </p:cNvSpPr>
          <p:nvPr/>
        </p:nvSpPr>
        <p:spPr>
          <a:xfrm>
            <a:off x="7639050" y="1752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2B57C6-D341-4410-B62C-20C7C7020F6C}"/>
              </a:ext>
            </a:extLst>
          </p:cNvPr>
          <p:cNvSpPr>
            <a:spLocks noGrp="1"/>
          </p:cNvSpPr>
          <p:nvPr/>
        </p:nvSpPr>
        <p:spPr>
          <a:xfrm>
            <a:off x="7639050" y="2209800"/>
            <a:ext cx="1752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Pattern detection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372975-BF98-4E4C-8D20-BB0AC6CEA7CB}"/>
              </a:ext>
            </a:extLst>
          </p:cNvPr>
          <p:cNvSpPr>
            <a:spLocks noGrp="1"/>
          </p:cNvSpPr>
          <p:nvPr/>
        </p:nvSpPr>
        <p:spPr>
          <a:xfrm>
            <a:off x="7639050" y="2800350"/>
            <a:ext cx="17526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Surface suspicious networks and velocity anomalies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30024F-2092-48CC-9B10-CB7D535217D5}"/>
              </a:ext>
            </a:extLst>
          </p:cNvPr>
          <p:cNvSpPr>
            <a:spLocks noGrp="1"/>
          </p:cNvSpPr>
          <p:nvPr/>
        </p:nvSpPr>
        <p:spPr>
          <a:xfrm>
            <a:off x="9582150" y="255270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4203"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682DD79-735C-4D02-AA6A-B79D93EB5FFE}"/>
              </a:ext>
            </a:extLst>
          </p:cNvPr>
          <p:cNvSpPr>
            <a:spLocks noGrp="1"/>
          </p:cNvSpPr>
          <p:nvPr/>
        </p:nvSpPr>
        <p:spPr>
          <a:xfrm>
            <a:off x="9791700" y="1524000"/>
            <a:ext cx="2095500" cy="2705100"/>
          </a:xfrm>
          <a:prstGeom prst="roundRect">
            <a:avLst>
              <a:gd name="adj" fmla="val 727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774A870-FCB4-4F4A-8270-BB911B570822}"/>
              </a:ext>
            </a:extLst>
          </p:cNvPr>
          <p:cNvSpPr>
            <a:spLocks noGrp="1"/>
          </p:cNvSpPr>
          <p:nvPr/>
        </p:nvSpPr>
        <p:spPr>
          <a:xfrm>
            <a:off x="9791700" y="1524000"/>
            <a:ext cx="2095500" cy="5715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11DAC5-A0DE-4A7B-A67E-7CF6B1B9EC74}"/>
              </a:ext>
            </a:extLst>
          </p:cNvPr>
          <p:cNvSpPr>
            <a:spLocks noGrp="1"/>
          </p:cNvSpPr>
          <p:nvPr/>
        </p:nvSpPr>
        <p:spPr>
          <a:xfrm>
            <a:off x="9963150" y="1752600"/>
            <a:ext cx="495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089A3E-9EE9-4937-AFCE-B9359C837A2E}"/>
              </a:ext>
            </a:extLst>
          </p:cNvPr>
          <p:cNvSpPr>
            <a:spLocks noGrp="1"/>
          </p:cNvSpPr>
          <p:nvPr/>
        </p:nvSpPr>
        <p:spPr>
          <a:xfrm>
            <a:off x="9963150" y="2209800"/>
            <a:ext cx="1752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7302"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Investigation workspace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DD3E58-73C5-416C-9F23-2E2F6055E5F3}"/>
              </a:ext>
            </a:extLst>
          </p:cNvPr>
          <p:cNvSpPr>
            <a:spLocks noGrp="1"/>
          </p:cNvSpPr>
          <p:nvPr/>
        </p:nvSpPr>
        <p:spPr>
          <a:xfrm>
            <a:off x="9963150" y="2800350"/>
            <a:ext cx="17526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Combine dashboards with AI-assisted analysis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5D9C043-A264-4368-A390-DAFB7229D103}"/>
              </a:ext>
            </a:extLst>
          </p:cNvPr>
          <p:cNvSpPr>
            <a:spLocks noGrp="1"/>
          </p:cNvSpPr>
          <p:nvPr/>
        </p:nvSpPr>
        <p:spPr>
          <a:xfrm>
            <a:off x="1123950" y="4695825"/>
            <a:ext cx="9944100" cy="1047750"/>
          </a:xfrm>
          <a:prstGeom prst="roundRect">
            <a:avLst>
              <a:gd name="adj" fmla="val 14545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7C967D-E958-4338-9B80-BA44FD2B7EDD}"/>
              </a:ext>
            </a:extLst>
          </p:cNvPr>
          <p:cNvSpPr>
            <a:spLocks noGrp="1"/>
          </p:cNvSpPr>
          <p:nvPr/>
        </p:nvSpPr>
        <p:spPr>
          <a:xfrm>
            <a:off x="1476375" y="4876800"/>
            <a:ext cx="923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“Transform fragmented payment records into an explainable, auditable, and investigation-ready risk intelligence platform.”</a:t>
            </a:r>
          </a:p>
        </p:txBody>
      </p:sp>
    </p:spTree>
    <p:extLst>
      <p:ext uri="{BB962C8B-B14F-4D97-AF65-F5344CB8AC3E}">
        <p14:creationId xmlns:p14="http://schemas.microsoft.com/office/powerpoint/2010/main" val="194787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5A0B5F2-C869-42FD-8218-9CD6F0271067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Four datasets form the governed risk evidence base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02AD57-9D5C-47F8-A7C1-760F2ECC75B7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2B753F-634C-4AF4-BFF8-983AC9C09600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B57A62-0EF9-42F7-931F-52D6A0F162B8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DB6E55-FA0C-40D8-B0DE-F18AF1C9EDEB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graphicFrame>
        <p:nvGraphicFramePr>
          <p:cNvPr id="28" name="Table 27"/>
          <p:cNvGraphicFramePr/>
          <p:nvPr/>
        </p:nvGraphicFramePr>
        <p:xfrm>
          <a:off x="514350" y="1238250"/>
          <a:ext cx="8191500" cy="49720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114300" marR="114300" marT="76200" marB="76200" anchor="ctr">
                    <a:solidFill>
                      <a:srgbClr val="151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Core fields</a:t>
                      </a:r>
                    </a:p>
                  </a:txBody>
                  <a:tcPr marL="114300" marR="114300" marT="76200" marB="76200" anchor="ctr">
                    <a:solidFill>
                      <a:srgbClr val="151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Analytical role</a:t>
                      </a:r>
                    </a:p>
                  </a:txBody>
                  <a:tcPr marL="114300" marR="114300" marT="76200" marB="76200" anchor="ctr">
                    <a:solidFill>
                      <a:srgbClr val="15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6B6D4"/>
                          </a:solidFill>
                          <a:latin typeface="Arial"/>
                          <a:ea typeface="Arial"/>
                          <a:cs typeface="Arial"/>
                        </a:rPr>
                        <a:t>UPI Transactions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Transaction ID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Timestamp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User and merchant IDs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Amount, UTR, MCC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Transaction status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Payment activity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Outcome monitoring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Velocity analysis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6366F1"/>
                          </a:solidFill>
                          <a:latin typeface="Arial"/>
                          <a:ea typeface="Arial"/>
                          <a:cs typeface="Arial"/>
                        </a:rPr>
                        <a:t>KYC Records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Customer profile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PAN and Aadhaar format indicators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Income and occupation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KYC status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Risk segment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Identity context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Segment analysis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Privacy-aware risk review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59E0B"/>
                          </a:solidFill>
                          <a:latin typeface="Arial"/>
                          <a:ea typeface="Arial"/>
                          <a:cs typeface="Arial"/>
                        </a:rPr>
                        <a:t>Merchant Master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Merchant profile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Category and MCC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Business type and location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Merchant status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Declared average ticket size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Merchant benchmarking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Category comparison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Declared vs observed behavior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43F5E"/>
                          </a:solidFill>
                          <a:latin typeface="Arial"/>
                          <a:ea typeface="Arial"/>
                          <a:cs typeface="Arial"/>
                        </a:rPr>
                        <a:t>Chargebacks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Complaint and transaction IDs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Disputed amount and reason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Severity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Reporting timestamps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Resolution status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Reported dispute exposure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Delay analysis</a:t>
                      </a:r>
                    </a:p>
                    <a:p>
                      <a:r>
                        <a:rPr sz="1125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Loss concentration</a:t>
                      </a:r>
                    </a:p>
                  </a:txBody>
                  <a:tcPr marL="114300" marR="114300" marT="76200" marB="76200" anchor="ctr"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B7D819-82D4-45E1-8598-E7409850DE05}"/>
              </a:ext>
            </a:extLst>
          </p:cNvPr>
          <p:cNvSpPr>
            <a:spLocks noGrp="1"/>
          </p:cNvSpPr>
          <p:nvPr/>
        </p:nvSpPr>
        <p:spPr>
          <a:xfrm>
            <a:off x="9067800" y="1238250"/>
            <a:ext cx="2590800" cy="933450"/>
          </a:xfrm>
          <a:prstGeom prst="roundRect">
            <a:avLst>
              <a:gd name="adj" fmla="val 14286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D46A24-E3DE-4091-A193-B6326F1E4E75}"/>
              </a:ext>
            </a:extLst>
          </p:cNvPr>
          <p:cNvSpPr>
            <a:spLocks noGrp="1"/>
          </p:cNvSpPr>
          <p:nvPr/>
        </p:nvSpPr>
        <p:spPr>
          <a:xfrm>
            <a:off x="9067800" y="1238250"/>
            <a:ext cx="47625" cy="9334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9C0786-B4A7-4569-AE45-41F8FEB99997}"/>
              </a:ext>
            </a:extLst>
          </p:cNvPr>
          <p:cNvSpPr>
            <a:spLocks noGrp="1"/>
          </p:cNvSpPr>
          <p:nvPr/>
        </p:nvSpPr>
        <p:spPr>
          <a:xfrm>
            <a:off x="9277350" y="13716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65,894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A891D6-8323-49EF-B895-3FB7451EFAEA}"/>
              </a:ext>
            </a:extLst>
          </p:cNvPr>
          <p:cNvSpPr>
            <a:spLocks noGrp="1"/>
          </p:cNvSpPr>
          <p:nvPr/>
        </p:nvSpPr>
        <p:spPr>
          <a:xfrm>
            <a:off x="9277350" y="17811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TOTAL RAW RECORDS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FCBABF-434B-4EE1-963D-EA36D9315801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2590800" cy="933450"/>
          </a:xfrm>
          <a:prstGeom prst="roundRect">
            <a:avLst>
              <a:gd name="adj" fmla="val 14286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F27692-0C68-4423-A517-41C5095E855C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47625" cy="9334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4B1AD-E7E8-4596-8FB0-D1D57E12AE9F}"/>
              </a:ext>
            </a:extLst>
          </p:cNvPr>
          <p:cNvSpPr>
            <a:spLocks noGrp="1"/>
          </p:cNvSpPr>
          <p:nvPr/>
        </p:nvSpPr>
        <p:spPr>
          <a:xfrm>
            <a:off x="9277350" y="253365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56,063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102FD5-1E6F-49AD-B143-D110684271F6}"/>
              </a:ext>
            </a:extLst>
          </p:cNvPr>
          <p:cNvSpPr>
            <a:spLocks noGrp="1"/>
          </p:cNvSpPr>
          <p:nvPr/>
        </p:nvSpPr>
        <p:spPr>
          <a:xfrm>
            <a:off x="9277350" y="294322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TOTAL CLEANED RECORDS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978FB1-F4D4-48E8-A3F8-5C17FD4EA0D1}"/>
              </a:ext>
            </a:extLst>
          </p:cNvPr>
          <p:cNvSpPr>
            <a:spLocks noGrp="1"/>
          </p:cNvSpPr>
          <p:nvPr/>
        </p:nvSpPr>
        <p:spPr>
          <a:xfrm>
            <a:off x="9067800" y="3562350"/>
            <a:ext cx="2590800" cy="933450"/>
          </a:xfrm>
          <a:prstGeom prst="roundRect">
            <a:avLst>
              <a:gd name="adj" fmla="val 14286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34488D-3D50-40CF-B92B-70852D2FEFFC}"/>
              </a:ext>
            </a:extLst>
          </p:cNvPr>
          <p:cNvSpPr>
            <a:spLocks noGrp="1"/>
          </p:cNvSpPr>
          <p:nvPr/>
        </p:nvSpPr>
        <p:spPr>
          <a:xfrm>
            <a:off x="9067800" y="3562350"/>
            <a:ext cx="47625" cy="9334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192E9F-9DDA-4B6A-BDB7-9ED89C1E5F2F}"/>
              </a:ext>
            </a:extLst>
          </p:cNvPr>
          <p:cNvSpPr>
            <a:spLocks noGrp="1"/>
          </p:cNvSpPr>
          <p:nvPr/>
        </p:nvSpPr>
        <p:spPr>
          <a:xfrm>
            <a:off x="9277350" y="36957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9,831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A5277B-3049-4786-889B-CEF5195FE82F}"/>
              </a:ext>
            </a:extLst>
          </p:cNvPr>
          <p:cNvSpPr>
            <a:spLocks noGrp="1"/>
          </p:cNvSpPr>
          <p:nvPr/>
        </p:nvSpPr>
        <p:spPr>
          <a:xfrm>
            <a:off x="9277350" y="41052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DUPLICATES REMOVED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CB77C2-E207-420E-B5D9-D71FDF567E4E}"/>
              </a:ext>
            </a:extLst>
          </p:cNvPr>
          <p:cNvSpPr>
            <a:spLocks noGrp="1"/>
          </p:cNvSpPr>
          <p:nvPr/>
        </p:nvSpPr>
        <p:spPr>
          <a:xfrm>
            <a:off x="9067800" y="4724400"/>
            <a:ext cx="2590800" cy="933450"/>
          </a:xfrm>
          <a:prstGeom prst="roundRect">
            <a:avLst>
              <a:gd name="adj" fmla="val 14286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43170F-0AE9-4B42-886B-C59CAF4ABE8D}"/>
              </a:ext>
            </a:extLst>
          </p:cNvPr>
          <p:cNvSpPr>
            <a:spLocks noGrp="1"/>
          </p:cNvSpPr>
          <p:nvPr/>
        </p:nvSpPr>
        <p:spPr>
          <a:xfrm>
            <a:off x="9067800" y="4724400"/>
            <a:ext cx="47625" cy="9334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E29975-A107-47A0-9C62-4B098E744636}"/>
              </a:ext>
            </a:extLst>
          </p:cNvPr>
          <p:cNvSpPr>
            <a:spLocks noGrp="1"/>
          </p:cNvSpPr>
          <p:nvPr/>
        </p:nvSpPr>
        <p:spPr>
          <a:xfrm>
            <a:off x="9277350" y="485775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5644A9-F2EE-4422-9E27-31CBD01D8C41}"/>
              </a:ext>
            </a:extLst>
          </p:cNvPr>
          <p:cNvSpPr>
            <a:spLocks noGrp="1"/>
          </p:cNvSpPr>
          <p:nvPr/>
        </p:nvSpPr>
        <p:spPr>
          <a:xfrm>
            <a:off x="9277350" y="526732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UNJUSTIFIED ROW DROPS</a:t>
            </a:r>
          </a:p>
        </p:txBody>
      </p:sp>
    </p:spTree>
    <p:extLst>
      <p:ext uri="{BB962C8B-B14F-4D97-AF65-F5344CB8AC3E}">
        <p14:creationId xmlns:p14="http://schemas.microsoft.com/office/powerpoint/2010/main" val="41476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BD7B34B-7A11-45E2-B665-700F6E132950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0604"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Data rescue preserves every unique record and documents each transformation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C6330D-9CFA-4F30-A764-2B55DED07CA5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B623D-8809-4CEA-AB2B-D576CDC16AFC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7176F2-D4C4-45A0-BF67-D09FD44AA95E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E22620-918A-46B9-ABB3-2759F321B563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FEDC7-24E5-4BF1-A5D7-18243B2885DE}"/>
              </a:ext>
            </a:extLst>
          </p:cNvPr>
          <p:cNvSpPr>
            <a:spLocks noGrp="1"/>
          </p:cNvSpPr>
          <p:nvPr/>
        </p:nvSpPr>
        <p:spPr>
          <a:xfrm>
            <a:off x="533400" y="1228725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CLEANING CONTROLS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E2E4C-C210-48D7-A96D-47D671CB9D70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4857750" cy="32004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 fontScale="97369"/>
          </a:bodyPr>
          <a:lstStyle/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Standardize user, merchant, transaction, UTR, and MCC identifiers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Parse Unix epoch, ISO, AM/PM, and slashed timestamps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Normalize INR symbols, commas, negatives, and k multipliers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Harmonize transaction, merchant, KYC, severity, and resolution statuses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Impute income and ticket size with occupation or category medians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Reconcile disputed amounts and backfill MCC through governed lookups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Preserve missing-value indicators instead of dropping records</a:t>
            </a:r>
          </a:p>
        </p:txBody>
      </p:sp>
      <p:graphicFrame>
        <p:nvGraphicFramePr>
          <p:cNvPr id="26" name="Table 25"/>
          <p:cNvGraphicFramePr/>
          <p:nvPr/>
        </p:nvGraphicFramePr>
        <p:xfrm>
          <a:off x="5638800" y="1352550"/>
          <a:ext cx="6019800" cy="290512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5250" marR="95250" marT="76200" marB="76200" anchor="ctr">
                    <a:solidFill>
                      <a:srgbClr val="151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Raw</a:t>
                      </a:r>
                    </a:p>
                  </a:txBody>
                  <a:tcPr marL="95250" marR="95250" marT="76200" marB="76200" anchor="ctr">
                    <a:solidFill>
                      <a:srgbClr val="151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Clean</a:t>
                      </a:r>
                    </a:p>
                  </a:txBody>
                  <a:tcPr marL="95250" marR="95250" marT="76200" marB="76200" anchor="ctr">
                    <a:solidFill>
                      <a:srgbClr val="151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Duplicates removed</a:t>
                      </a:r>
                    </a:p>
                  </a:txBody>
                  <a:tcPr marL="95250" marR="95250" marT="76200" marB="76200" anchor="ctr">
                    <a:solidFill>
                      <a:srgbClr val="15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UPI Transactions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20,400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20,000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KYC Records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36,400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28,920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7,480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Merchant Master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6,210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4,343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1,867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EF0F8"/>
                          </a:solidFill>
                          <a:latin typeface="Arial"/>
                          <a:ea typeface="Arial"/>
                          <a:cs typeface="Arial"/>
                        </a:rPr>
                        <a:t>Chargebacks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2,884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2,800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8B95B0"/>
                          </a:solidFill>
                          <a:latin typeface="Arial"/>
                          <a:ea typeface="Arial"/>
                          <a:cs typeface="Arial"/>
                        </a:rPr>
                        <a:t>84</a:t>
                      </a:r>
                    </a:p>
                  </a:txBody>
                  <a:tcPr marL="95250" marR="95250" marT="66675" marB="66675" anchor="ctr">
                    <a:solidFill>
                      <a:srgbClr val="101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E7C2BA-3C3E-43CA-9DB5-866CF8D44065}"/>
              </a:ext>
            </a:extLst>
          </p:cNvPr>
          <p:cNvSpPr>
            <a:spLocks noGrp="1"/>
          </p:cNvSpPr>
          <p:nvPr/>
        </p:nvSpPr>
        <p:spPr>
          <a:xfrm>
            <a:off x="5638800" y="4629150"/>
            <a:ext cx="2667000" cy="914400"/>
          </a:xfrm>
          <a:prstGeom prst="roundRect">
            <a:avLst>
              <a:gd name="adj" fmla="val 1458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C290A5-DDA5-493B-BEFD-5FAD2BEE8B9C}"/>
              </a:ext>
            </a:extLst>
          </p:cNvPr>
          <p:cNvSpPr>
            <a:spLocks noGrp="1"/>
          </p:cNvSpPr>
          <p:nvPr/>
        </p:nvSpPr>
        <p:spPr>
          <a:xfrm>
            <a:off x="5638800" y="4629150"/>
            <a:ext cx="47625" cy="9144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A1B0F0-3B1F-4689-8654-C3A5D2A164AA}"/>
              </a:ext>
            </a:extLst>
          </p:cNvPr>
          <p:cNvSpPr>
            <a:spLocks noGrp="1"/>
          </p:cNvSpPr>
          <p:nvPr/>
        </p:nvSpPr>
        <p:spPr>
          <a:xfrm>
            <a:off x="5810250" y="4752975"/>
            <a:ext cx="2400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AGGREGATE RETENTION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252FC6-1014-404B-9901-2D80F67DC6E5}"/>
              </a:ext>
            </a:extLst>
          </p:cNvPr>
          <p:cNvSpPr>
            <a:spLocks noGrp="1"/>
          </p:cNvSpPr>
          <p:nvPr/>
        </p:nvSpPr>
        <p:spPr>
          <a:xfrm>
            <a:off x="5810250" y="5000625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85.08%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8EEC89-997B-48BA-BBC1-3BC1AF67CC99}"/>
              </a:ext>
            </a:extLst>
          </p:cNvPr>
          <p:cNvSpPr>
            <a:spLocks noGrp="1"/>
          </p:cNvSpPr>
          <p:nvPr/>
        </p:nvSpPr>
        <p:spPr>
          <a:xfrm>
            <a:off x="8496300" y="4629150"/>
            <a:ext cx="3162300" cy="914400"/>
          </a:xfrm>
          <a:prstGeom prst="roundRect">
            <a:avLst>
              <a:gd name="adj" fmla="val 1458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0B693C-C77E-4D8B-996B-9BDAA3A07DB9}"/>
              </a:ext>
            </a:extLst>
          </p:cNvPr>
          <p:cNvSpPr>
            <a:spLocks noGrp="1"/>
          </p:cNvSpPr>
          <p:nvPr/>
        </p:nvSpPr>
        <p:spPr>
          <a:xfrm>
            <a:off x="8496300" y="4629150"/>
            <a:ext cx="47625" cy="914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EDF925-1EDE-4890-BFD6-8DD298C538BF}"/>
              </a:ext>
            </a:extLst>
          </p:cNvPr>
          <p:cNvSpPr>
            <a:spLocks noGrp="1"/>
          </p:cNvSpPr>
          <p:nvPr/>
        </p:nvSpPr>
        <p:spPr>
          <a:xfrm>
            <a:off x="8667750" y="4752975"/>
            <a:ext cx="28956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UNIQUE RECORD RETENTION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AB981E-A467-46BE-AF2F-C213098024CB}"/>
              </a:ext>
            </a:extLst>
          </p:cNvPr>
          <p:cNvSpPr>
            <a:spLocks noGrp="1"/>
          </p:cNvSpPr>
          <p:nvPr/>
        </p:nvSpPr>
        <p:spPr>
          <a:xfrm>
            <a:off x="8667750" y="5000625"/>
            <a:ext cx="2895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F17F49-5468-4DED-95DE-5D977C4340C0}"/>
              </a:ext>
            </a:extLst>
          </p:cNvPr>
          <p:cNvSpPr>
            <a:spLocks noGrp="1"/>
          </p:cNvSpPr>
          <p:nvPr/>
        </p:nvSpPr>
        <p:spPr>
          <a:xfrm>
            <a:off x="514350" y="5829300"/>
            <a:ext cx="11144250" cy="409575"/>
          </a:xfrm>
          <a:prstGeom prst="roundRect">
            <a:avLst>
              <a:gd name="adj" fmla="val 23256"/>
            </a:avLst>
          </a:prstGeom>
          <a:solidFill>
            <a:srgbClr val="151929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A7E9B0-0FF3-448A-95BB-CA4BD9ADA579}"/>
              </a:ext>
            </a:extLst>
          </p:cNvPr>
          <p:cNvSpPr>
            <a:spLocks noGrp="1"/>
          </p:cNvSpPr>
          <p:nvPr/>
        </p:nvSpPr>
        <p:spPr>
          <a:xfrm>
            <a:off x="685800" y="5895975"/>
            <a:ext cx="1080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Audit position: duplicate removal explains the difference between raw and clean counts; unique records remain retained.</a:t>
            </a:r>
          </a:p>
        </p:txBody>
      </p:sp>
    </p:spTree>
    <p:extLst>
      <p:ext uri="{BB962C8B-B14F-4D97-AF65-F5344CB8AC3E}">
        <p14:creationId xmlns:p14="http://schemas.microsoft.com/office/powerpoint/2010/main" val="114858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3763EBBB-E2F2-4618-BC1A-D6BBFF19DD60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Governed architecture connects data and controlled 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810373-40E9-485D-90F9-3A259D32D556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14618B-68CE-422D-AA26-A9F178FEE78C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B98BB-0266-4FA5-891F-95F6B4458FF1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2FEB5-1DAF-442B-B33E-4B9F3AF0AAF0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7898E3-B093-4A58-B2B2-F9B20AE534C1}"/>
              </a:ext>
            </a:extLst>
          </p:cNvPr>
          <p:cNvSpPr>
            <a:spLocks noGrp="1"/>
          </p:cNvSpPr>
          <p:nvPr/>
        </p:nvSpPr>
        <p:spPr>
          <a:xfrm>
            <a:off x="419100" y="1428750"/>
            <a:ext cx="1600200" cy="685800"/>
          </a:xfrm>
          <a:prstGeom prst="roundRect">
            <a:avLst>
              <a:gd name="adj" fmla="val 16667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A7A4D3-AA59-4417-BCAC-797FF76E1166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Raw files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36DBF-373F-4C1C-87DF-CBA9DB0B06B5}"/>
              </a:ext>
            </a:extLst>
          </p:cNvPr>
          <p:cNvSpPr>
            <a:spLocks noGrp="1"/>
          </p:cNvSpPr>
          <p:nvPr/>
        </p:nvSpPr>
        <p:spPr>
          <a:xfrm>
            <a:off x="514350" y="17240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CSV + JSON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B96F52-3DD6-434F-B761-B542C48F9030}"/>
              </a:ext>
            </a:extLst>
          </p:cNvPr>
          <p:cNvSpPr>
            <a:spLocks noGrp="1"/>
          </p:cNvSpPr>
          <p:nvPr/>
        </p:nvSpPr>
        <p:spPr>
          <a:xfrm>
            <a:off x="2286000" y="1428750"/>
            <a:ext cx="1600200" cy="685800"/>
          </a:xfrm>
          <a:prstGeom prst="roundRect">
            <a:avLst>
              <a:gd name="adj" fmla="val 16667"/>
            </a:avLst>
          </a:prstGeom>
          <a:solidFill>
            <a:srgbClr val="10141F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5B5EDA-8DB5-4009-AB95-27282E5618BB}"/>
              </a:ext>
            </a:extLst>
          </p:cNvPr>
          <p:cNvSpPr>
            <a:spLocks noGrp="1"/>
          </p:cNvSpPr>
          <p:nvPr/>
        </p:nvSpPr>
        <p:spPr>
          <a:xfrm>
            <a:off x="2381250" y="15049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Data rescue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34618D-C7BA-421E-B9A4-1776A7B98CC9}"/>
              </a:ext>
            </a:extLst>
          </p:cNvPr>
          <p:cNvSpPr>
            <a:spLocks noGrp="1"/>
          </p:cNvSpPr>
          <p:nvPr/>
        </p:nvSpPr>
        <p:spPr>
          <a:xfrm>
            <a:off x="2381250" y="17240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Pandas + NumPy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34924D-921B-41E7-A93B-AD088C0A5D81}"/>
              </a:ext>
            </a:extLst>
          </p:cNvPr>
          <p:cNvSpPr>
            <a:spLocks noGrp="1"/>
          </p:cNvSpPr>
          <p:nvPr/>
        </p:nvSpPr>
        <p:spPr>
          <a:xfrm>
            <a:off x="4152900" y="1428750"/>
            <a:ext cx="1600200" cy="685800"/>
          </a:xfrm>
          <a:prstGeom prst="roundRect">
            <a:avLst>
              <a:gd name="adj" fmla="val 16667"/>
            </a:avLst>
          </a:prstGeom>
          <a:solidFill>
            <a:srgbClr val="10141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A4EE1E-A75D-4711-BCD4-8F643F94932F}"/>
              </a:ext>
            </a:extLst>
          </p:cNvPr>
          <p:cNvSpPr>
            <a:spLocks noGrp="1"/>
          </p:cNvSpPr>
          <p:nvPr/>
        </p:nvSpPr>
        <p:spPr>
          <a:xfrm>
            <a:off x="4248150" y="15049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Clean datasets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7CB00-0C4F-4EBE-BA32-C2978F03BA44}"/>
              </a:ext>
            </a:extLst>
          </p:cNvPr>
          <p:cNvSpPr>
            <a:spLocks noGrp="1"/>
          </p:cNvSpPr>
          <p:nvPr/>
        </p:nvSpPr>
        <p:spPr>
          <a:xfrm>
            <a:off x="4248150" y="17240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Parquet + CSV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870EF5-37A5-40E6-8C4B-7C19925870E9}"/>
              </a:ext>
            </a:extLst>
          </p:cNvPr>
          <p:cNvSpPr>
            <a:spLocks noGrp="1"/>
          </p:cNvSpPr>
          <p:nvPr/>
        </p:nvSpPr>
        <p:spPr>
          <a:xfrm>
            <a:off x="6019800" y="1428750"/>
            <a:ext cx="1600200" cy="685800"/>
          </a:xfrm>
          <a:prstGeom prst="roundRect">
            <a:avLst>
              <a:gd name="adj" fmla="val 16667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E0CDC6-2148-4E8C-9FE8-6CD0316ACBE2}"/>
              </a:ext>
            </a:extLst>
          </p:cNvPr>
          <p:cNvSpPr>
            <a:spLocks noGrp="1"/>
          </p:cNvSpPr>
          <p:nvPr/>
        </p:nvSpPr>
        <p:spPr>
          <a:xfrm>
            <a:off x="6115050" y="15049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Warehouse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B6359E-1A8F-4896-BA27-4EAF078F9D4B}"/>
              </a:ext>
            </a:extLst>
          </p:cNvPr>
          <p:cNvSpPr>
            <a:spLocks noGrp="1"/>
          </p:cNvSpPr>
          <p:nvPr/>
        </p:nvSpPr>
        <p:spPr>
          <a:xfrm>
            <a:off x="6115050" y="17240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DuckDB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161AF1-11E9-4E76-B02C-0C593EAB0AA5}"/>
              </a:ext>
            </a:extLst>
          </p:cNvPr>
          <p:cNvSpPr>
            <a:spLocks noGrp="1"/>
          </p:cNvSpPr>
          <p:nvPr/>
        </p:nvSpPr>
        <p:spPr>
          <a:xfrm>
            <a:off x="7886700" y="1428750"/>
            <a:ext cx="1600200" cy="685800"/>
          </a:xfrm>
          <a:prstGeom prst="roundRect">
            <a:avLst>
              <a:gd name="adj" fmla="val 16667"/>
            </a:avLst>
          </a:prstGeom>
          <a:solidFill>
            <a:srgbClr val="1014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D33CA0-C424-4FAA-8806-B778BFE0C1C5}"/>
              </a:ext>
            </a:extLst>
          </p:cNvPr>
          <p:cNvSpPr>
            <a:spLocks noGrp="1"/>
          </p:cNvSpPr>
          <p:nvPr/>
        </p:nvSpPr>
        <p:spPr>
          <a:xfrm>
            <a:off x="7981950" y="15049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Network engine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F1F097-E93D-4CAF-88CC-3C1CC5791C53}"/>
              </a:ext>
            </a:extLst>
          </p:cNvPr>
          <p:cNvSpPr>
            <a:spLocks noGrp="1"/>
          </p:cNvSpPr>
          <p:nvPr/>
        </p:nvSpPr>
        <p:spPr>
          <a:xfrm>
            <a:off x="7981950" y="17240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NetworkX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98D7C68-D104-4490-8AF2-56D5119F7D77}"/>
              </a:ext>
            </a:extLst>
          </p:cNvPr>
          <p:cNvSpPr>
            <a:spLocks noGrp="1"/>
          </p:cNvSpPr>
          <p:nvPr/>
        </p:nvSpPr>
        <p:spPr>
          <a:xfrm>
            <a:off x="9753600" y="1428750"/>
            <a:ext cx="1600200" cy="685800"/>
          </a:xfrm>
          <a:prstGeom prst="roundRect">
            <a:avLst>
              <a:gd name="adj" fmla="val 16667"/>
            </a:avLst>
          </a:prstGeom>
          <a:solidFill>
            <a:srgbClr val="10141F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B0EC71-B87B-494F-844E-51F603B9270B}"/>
              </a:ext>
            </a:extLst>
          </p:cNvPr>
          <p:cNvSpPr>
            <a:spLocks noGrp="1"/>
          </p:cNvSpPr>
          <p:nvPr/>
        </p:nvSpPr>
        <p:spPr>
          <a:xfrm>
            <a:off x="9848850" y="15049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Risk dashboard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2599B6-4DD1-4127-A06B-358C2057A86F}"/>
              </a:ext>
            </a:extLst>
          </p:cNvPr>
          <p:cNvSpPr>
            <a:spLocks noGrp="1"/>
          </p:cNvSpPr>
          <p:nvPr/>
        </p:nvSpPr>
        <p:spPr>
          <a:xfrm>
            <a:off x="9848850" y="17240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Streamlit + Plotly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39CD79-6C5C-48A2-AA1E-7E8E44AA9AA5}"/>
              </a:ext>
            </a:extLst>
          </p:cNvPr>
          <p:cNvSpPr>
            <a:spLocks noGrp="1"/>
          </p:cNvSpPr>
          <p:nvPr/>
        </p:nvSpPr>
        <p:spPr>
          <a:xfrm>
            <a:off x="2019300" y="162877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95992F-860C-429B-A2EA-14D9574AFBC3}"/>
              </a:ext>
            </a:extLst>
          </p:cNvPr>
          <p:cNvSpPr>
            <a:spLocks noGrp="1"/>
          </p:cNvSpPr>
          <p:nvPr/>
        </p:nvSpPr>
        <p:spPr>
          <a:xfrm>
            <a:off x="3886200" y="162877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C10344-CA17-4787-988B-3772198BA4AC}"/>
              </a:ext>
            </a:extLst>
          </p:cNvPr>
          <p:cNvSpPr>
            <a:spLocks noGrp="1"/>
          </p:cNvSpPr>
          <p:nvPr/>
        </p:nvSpPr>
        <p:spPr>
          <a:xfrm>
            <a:off x="5753100" y="162877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A2560-17D1-444B-B43C-5C13ACC2461B}"/>
              </a:ext>
            </a:extLst>
          </p:cNvPr>
          <p:cNvSpPr>
            <a:spLocks noGrp="1"/>
          </p:cNvSpPr>
          <p:nvPr/>
        </p:nvSpPr>
        <p:spPr>
          <a:xfrm>
            <a:off x="7620000" y="162877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7D9F3D-7D80-45FA-AA90-CDEAC026F178}"/>
              </a:ext>
            </a:extLst>
          </p:cNvPr>
          <p:cNvSpPr>
            <a:spLocks noGrp="1"/>
          </p:cNvSpPr>
          <p:nvPr/>
        </p:nvSpPr>
        <p:spPr>
          <a:xfrm>
            <a:off x="9486900" y="162877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658CB2-0BBD-4FB7-9339-05C064F7E9BE}"/>
              </a:ext>
            </a:extLst>
          </p:cNvPr>
          <p:cNvSpPr>
            <a:spLocks noGrp="1"/>
          </p:cNvSpPr>
          <p:nvPr/>
        </p:nvSpPr>
        <p:spPr>
          <a:xfrm>
            <a:off x="514350" y="113347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CORE ANALYTICAL PATH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2D8DD9-852C-4E3E-97CC-A8159CEB4412}"/>
              </a:ext>
            </a:extLst>
          </p:cNvPr>
          <p:cNvSpPr>
            <a:spLocks noGrp="1"/>
          </p:cNvSpPr>
          <p:nvPr/>
        </p:nvSpPr>
        <p:spPr>
          <a:xfrm>
            <a:off x="514350" y="291465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CONTROLLED AI BRANCH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BD5DA9-8120-4DB3-BDD1-2DB7FE9243BE}"/>
              </a:ext>
            </a:extLst>
          </p:cNvPr>
          <p:cNvSpPr>
            <a:spLocks noGrp="1"/>
          </p:cNvSpPr>
          <p:nvPr/>
        </p:nvSpPr>
        <p:spPr>
          <a:xfrm>
            <a:off x="419100" y="3257550"/>
            <a:ext cx="16002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FC606AC-F6C3-4500-BC10-079E69FC8762}"/>
              </a:ext>
            </a:extLst>
          </p:cNvPr>
          <p:cNvSpPr>
            <a:spLocks noGrp="1"/>
          </p:cNvSpPr>
          <p:nvPr/>
        </p:nvSpPr>
        <p:spPr>
          <a:xfrm>
            <a:off x="514350" y="33337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3CB14E-D3C0-46B8-AF79-7B9F044AF36D}"/>
              </a:ext>
            </a:extLst>
          </p:cNvPr>
          <p:cNvSpPr>
            <a:spLocks noGrp="1"/>
          </p:cNvSpPr>
          <p:nvPr/>
        </p:nvSpPr>
        <p:spPr>
          <a:xfrm>
            <a:off x="514350" y="35528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natural language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7DA0B47-360D-4F30-B66C-E397AFD66B10}"/>
              </a:ext>
            </a:extLst>
          </p:cNvPr>
          <p:cNvSpPr>
            <a:spLocks noGrp="1"/>
          </p:cNvSpPr>
          <p:nvPr/>
        </p:nvSpPr>
        <p:spPr>
          <a:xfrm>
            <a:off x="2286000" y="3257550"/>
            <a:ext cx="16002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4F4DCC-1298-4885-9C98-57628BAAE925}"/>
              </a:ext>
            </a:extLst>
          </p:cNvPr>
          <p:cNvSpPr>
            <a:spLocks noGrp="1"/>
          </p:cNvSpPr>
          <p:nvPr/>
        </p:nvSpPr>
        <p:spPr>
          <a:xfrm>
            <a:off x="2381250" y="33337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Domain gate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5FE130-0D33-42BA-94E1-E0F5298FF972}"/>
              </a:ext>
            </a:extLst>
          </p:cNvPr>
          <p:cNvSpPr>
            <a:spLocks noGrp="1"/>
          </p:cNvSpPr>
          <p:nvPr/>
        </p:nvSpPr>
        <p:spPr>
          <a:xfrm>
            <a:off x="2381250" y="35528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local validation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F1D24CF-71A6-4D13-835D-BB53BA05D663}"/>
              </a:ext>
            </a:extLst>
          </p:cNvPr>
          <p:cNvSpPr>
            <a:spLocks noGrp="1"/>
          </p:cNvSpPr>
          <p:nvPr/>
        </p:nvSpPr>
        <p:spPr>
          <a:xfrm>
            <a:off x="4152900" y="3257550"/>
            <a:ext cx="16002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CE1F41-3AFE-44C0-9886-70D6B648A502}"/>
              </a:ext>
            </a:extLst>
          </p:cNvPr>
          <p:cNvSpPr>
            <a:spLocks noGrp="1"/>
          </p:cNvSpPr>
          <p:nvPr/>
        </p:nvSpPr>
        <p:spPr>
          <a:xfrm>
            <a:off x="4248150" y="33337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SQL generation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54225E-B08F-4FC8-A404-3CFBA7B2DDD1}"/>
              </a:ext>
            </a:extLst>
          </p:cNvPr>
          <p:cNvSpPr>
            <a:spLocks noGrp="1"/>
          </p:cNvSpPr>
          <p:nvPr/>
        </p:nvSpPr>
        <p:spPr>
          <a:xfrm>
            <a:off x="4248150" y="35528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Groq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0B7D2D9-3453-4B40-BFD1-E39BDC74BB3F}"/>
              </a:ext>
            </a:extLst>
          </p:cNvPr>
          <p:cNvSpPr>
            <a:spLocks noGrp="1"/>
          </p:cNvSpPr>
          <p:nvPr/>
        </p:nvSpPr>
        <p:spPr>
          <a:xfrm>
            <a:off x="6019800" y="3257550"/>
            <a:ext cx="16002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D8D168-169D-4CC0-B1E1-427932EC2B7B}"/>
              </a:ext>
            </a:extLst>
          </p:cNvPr>
          <p:cNvSpPr>
            <a:spLocks noGrp="1"/>
          </p:cNvSpPr>
          <p:nvPr/>
        </p:nvSpPr>
        <p:spPr>
          <a:xfrm>
            <a:off x="6115050" y="33337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Safety validation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8330A9-04C6-47C5-B429-3C41906D9047}"/>
              </a:ext>
            </a:extLst>
          </p:cNvPr>
          <p:cNvSpPr>
            <a:spLocks noGrp="1"/>
          </p:cNvSpPr>
          <p:nvPr/>
        </p:nvSpPr>
        <p:spPr>
          <a:xfrm>
            <a:off x="6115050" y="35528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SQLGlot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55FD06-82AB-4F09-9BCC-56D3429040BE}"/>
              </a:ext>
            </a:extLst>
          </p:cNvPr>
          <p:cNvSpPr>
            <a:spLocks noGrp="1"/>
          </p:cNvSpPr>
          <p:nvPr/>
        </p:nvSpPr>
        <p:spPr>
          <a:xfrm>
            <a:off x="7886700" y="3257550"/>
            <a:ext cx="16002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81BC46-3EBE-4638-A6EA-71FC9090EBB4}"/>
              </a:ext>
            </a:extLst>
          </p:cNvPr>
          <p:cNvSpPr>
            <a:spLocks noGrp="1"/>
          </p:cNvSpPr>
          <p:nvPr/>
        </p:nvSpPr>
        <p:spPr>
          <a:xfrm>
            <a:off x="7981950" y="33337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D3E99B-271B-4EB8-831D-2647F4C338DA}"/>
              </a:ext>
            </a:extLst>
          </p:cNvPr>
          <p:cNvSpPr>
            <a:spLocks noGrp="1"/>
          </p:cNvSpPr>
          <p:nvPr/>
        </p:nvSpPr>
        <p:spPr>
          <a:xfrm>
            <a:off x="7981950" y="35528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in-memory DuckDB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595311F-6F90-4CEE-BDC3-B41C0B9E8461}"/>
              </a:ext>
            </a:extLst>
          </p:cNvPr>
          <p:cNvSpPr>
            <a:spLocks noGrp="1"/>
          </p:cNvSpPr>
          <p:nvPr/>
        </p:nvSpPr>
        <p:spPr>
          <a:xfrm>
            <a:off x="9753600" y="3257550"/>
            <a:ext cx="16002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D2E390-9BF6-4E9E-B035-1850ACE2CAFA}"/>
              </a:ext>
            </a:extLst>
          </p:cNvPr>
          <p:cNvSpPr>
            <a:spLocks noGrp="1"/>
          </p:cNvSpPr>
          <p:nvPr/>
        </p:nvSpPr>
        <p:spPr>
          <a:xfrm>
            <a:off x="9848850" y="3333750"/>
            <a:ext cx="14097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ACEE44-5AE3-47AC-B8E2-753FBC371AC6}"/>
              </a:ext>
            </a:extLst>
          </p:cNvPr>
          <p:cNvSpPr>
            <a:spLocks noGrp="1"/>
          </p:cNvSpPr>
          <p:nvPr/>
        </p:nvSpPr>
        <p:spPr>
          <a:xfrm>
            <a:off x="9848850" y="3552825"/>
            <a:ext cx="1409700" cy="161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278"/>
          </a:bodyPr>
          <a:lstStyle/>
          <a:p>
            <a:pPr algn="ctr">
              <a:lnSpc>
                <a:spcPct val="100000"/>
              </a:lnSpc>
              <a:buNone/>
              <a:defRPr sz="90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Plotly + findings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51C741B-1F18-4064-A88F-D515C44F89F3}"/>
              </a:ext>
            </a:extLst>
          </p:cNvPr>
          <p:cNvSpPr>
            <a:spLocks noGrp="1"/>
          </p:cNvSpPr>
          <p:nvPr/>
        </p:nvSpPr>
        <p:spPr>
          <a:xfrm>
            <a:off x="2019300" y="343852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D34FFA9-1E0F-46B6-A819-1BB6FDA8325E}"/>
              </a:ext>
            </a:extLst>
          </p:cNvPr>
          <p:cNvSpPr>
            <a:spLocks noGrp="1"/>
          </p:cNvSpPr>
          <p:nvPr/>
        </p:nvSpPr>
        <p:spPr>
          <a:xfrm>
            <a:off x="3886200" y="343852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1390959-C260-4FC0-85A6-D05193F7B64D}"/>
              </a:ext>
            </a:extLst>
          </p:cNvPr>
          <p:cNvSpPr>
            <a:spLocks noGrp="1"/>
          </p:cNvSpPr>
          <p:nvPr/>
        </p:nvSpPr>
        <p:spPr>
          <a:xfrm>
            <a:off x="5753100" y="343852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40AE5F1-A852-480C-996C-2368F250893F}"/>
              </a:ext>
            </a:extLst>
          </p:cNvPr>
          <p:cNvSpPr>
            <a:spLocks noGrp="1"/>
          </p:cNvSpPr>
          <p:nvPr/>
        </p:nvSpPr>
        <p:spPr>
          <a:xfrm>
            <a:off x="7620000" y="343852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AA828CE-5827-4685-BF5D-F675E86A4658}"/>
              </a:ext>
            </a:extLst>
          </p:cNvPr>
          <p:cNvSpPr>
            <a:spLocks noGrp="1"/>
          </p:cNvSpPr>
          <p:nvPr/>
        </p:nvSpPr>
        <p:spPr>
          <a:xfrm>
            <a:off x="9486900" y="3438525"/>
            <a:ext cx="266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9286"/>
          </a:bodyPr>
          <a:lstStyle/>
          <a:p>
            <a:pPr algn="ctr">
              <a:lnSpc>
                <a:spcPct val="100000"/>
              </a:lnSpc>
              <a:buNone/>
              <a:defRPr sz="21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E76D454-5F78-410A-9906-5A6293316B2A}"/>
              </a:ext>
            </a:extLst>
          </p:cNvPr>
          <p:cNvSpPr>
            <a:spLocks noGrp="1"/>
          </p:cNvSpPr>
          <p:nvPr/>
        </p:nvSpPr>
        <p:spPr>
          <a:xfrm>
            <a:off x="514350" y="45720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50ACAC6-CFD3-452D-90F5-E7B3F95B5A70}"/>
              </a:ext>
            </a:extLst>
          </p:cNvPr>
          <p:cNvSpPr>
            <a:spLocks noGrp="1"/>
          </p:cNvSpPr>
          <p:nvPr/>
        </p:nvSpPr>
        <p:spPr>
          <a:xfrm>
            <a:off x="514350" y="4914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E4A3300-84D3-42A1-84F8-EE678E101762}"/>
              </a:ext>
            </a:extLst>
          </p:cNvPr>
          <p:cNvSpPr>
            <a:spLocks noGrp="1"/>
          </p:cNvSpPr>
          <p:nvPr/>
        </p:nvSpPr>
        <p:spPr>
          <a:xfrm>
            <a:off x="552450" y="493395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741A3EC-58BB-4EAB-B78E-45B3AF8B3D79}"/>
              </a:ext>
            </a:extLst>
          </p:cNvPr>
          <p:cNvSpPr>
            <a:spLocks noGrp="1"/>
          </p:cNvSpPr>
          <p:nvPr/>
        </p:nvSpPr>
        <p:spPr>
          <a:xfrm>
            <a:off x="2752725" y="4914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1378860-C26A-48EC-96E0-8B3B23135B44}"/>
              </a:ext>
            </a:extLst>
          </p:cNvPr>
          <p:cNvSpPr>
            <a:spLocks noGrp="1"/>
          </p:cNvSpPr>
          <p:nvPr/>
        </p:nvSpPr>
        <p:spPr>
          <a:xfrm>
            <a:off x="2790825" y="493395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7925DF8-482F-463F-8A07-615FCADFD39B}"/>
              </a:ext>
            </a:extLst>
          </p:cNvPr>
          <p:cNvSpPr>
            <a:spLocks noGrp="1"/>
          </p:cNvSpPr>
          <p:nvPr/>
        </p:nvSpPr>
        <p:spPr>
          <a:xfrm>
            <a:off x="4991100" y="4914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385186-B69B-4163-A160-78791924A055}"/>
              </a:ext>
            </a:extLst>
          </p:cNvPr>
          <p:cNvSpPr>
            <a:spLocks noGrp="1"/>
          </p:cNvSpPr>
          <p:nvPr/>
        </p:nvSpPr>
        <p:spPr>
          <a:xfrm>
            <a:off x="5029200" y="493395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NumPy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1519543-3B1E-4139-80DA-4ADA41597EE0}"/>
              </a:ext>
            </a:extLst>
          </p:cNvPr>
          <p:cNvSpPr>
            <a:spLocks noGrp="1"/>
          </p:cNvSpPr>
          <p:nvPr/>
        </p:nvSpPr>
        <p:spPr>
          <a:xfrm>
            <a:off x="7229475" y="4914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588766C-58C9-4081-B04A-27A12A765AA2}"/>
              </a:ext>
            </a:extLst>
          </p:cNvPr>
          <p:cNvSpPr>
            <a:spLocks noGrp="1"/>
          </p:cNvSpPr>
          <p:nvPr/>
        </p:nvSpPr>
        <p:spPr>
          <a:xfrm>
            <a:off x="7267575" y="493395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PyArrow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48B6910-848F-489B-9CEF-794808448C24}"/>
              </a:ext>
            </a:extLst>
          </p:cNvPr>
          <p:cNvSpPr>
            <a:spLocks noGrp="1"/>
          </p:cNvSpPr>
          <p:nvPr/>
        </p:nvSpPr>
        <p:spPr>
          <a:xfrm>
            <a:off x="9467850" y="491490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33D4A84-DAFC-4D4E-A035-18634D194EA8}"/>
              </a:ext>
            </a:extLst>
          </p:cNvPr>
          <p:cNvSpPr>
            <a:spLocks noGrp="1"/>
          </p:cNvSpPr>
          <p:nvPr/>
        </p:nvSpPr>
        <p:spPr>
          <a:xfrm>
            <a:off x="9505950" y="493395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DuckDB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1186082-5D7F-46EA-9CAC-291613E1E80C}"/>
              </a:ext>
            </a:extLst>
          </p:cNvPr>
          <p:cNvSpPr>
            <a:spLocks noGrp="1"/>
          </p:cNvSpPr>
          <p:nvPr/>
        </p:nvSpPr>
        <p:spPr>
          <a:xfrm>
            <a:off x="514350" y="539115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CA92E45-E973-46D4-8B0F-C50576A89791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NetworkX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5586D12-7976-430C-8D1A-2DDFDB56D56B}"/>
              </a:ext>
            </a:extLst>
          </p:cNvPr>
          <p:cNvSpPr>
            <a:spLocks noGrp="1"/>
          </p:cNvSpPr>
          <p:nvPr/>
        </p:nvSpPr>
        <p:spPr>
          <a:xfrm>
            <a:off x="2752725" y="539115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9F42F58-3C55-44F3-B993-D54ABD41581A}"/>
              </a:ext>
            </a:extLst>
          </p:cNvPr>
          <p:cNvSpPr>
            <a:spLocks noGrp="1"/>
          </p:cNvSpPr>
          <p:nvPr/>
        </p:nvSpPr>
        <p:spPr>
          <a:xfrm>
            <a:off x="2790825" y="541020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F0DBDFF3-E46B-49B3-83CE-DCEF6C8DC1F0}"/>
              </a:ext>
            </a:extLst>
          </p:cNvPr>
          <p:cNvSpPr>
            <a:spLocks noGrp="1"/>
          </p:cNvSpPr>
          <p:nvPr/>
        </p:nvSpPr>
        <p:spPr>
          <a:xfrm>
            <a:off x="4991100" y="539115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A2692AF-21E4-48C0-A79F-C16B5381D276}"/>
              </a:ext>
            </a:extLst>
          </p:cNvPr>
          <p:cNvSpPr>
            <a:spLocks noGrp="1"/>
          </p:cNvSpPr>
          <p:nvPr/>
        </p:nvSpPr>
        <p:spPr>
          <a:xfrm>
            <a:off x="5029200" y="541020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Plotly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28CE3B2-74DB-4A3D-8204-66A9F611C66F}"/>
              </a:ext>
            </a:extLst>
          </p:cNvPr>
          <p:cNvSpPr>
            <a:spLocks noGrp="1"/>
          </p:cNvSpPr>
          <p:nvPr/>
        </p:nvSpPr>
        <p:spPr>
          <a:xfrm>
            <a:off x="7229475" y="539115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5B62EFD-8634-40F6-B0EA-F55300073110}"/>
              </a:ext>
            </a:extLst>
          </p:cNvPr>
          <p:cNvSpPr>
            <a:spLocks noGrp="1"/>
          </p:cNvSpPr>
          <p:nvPr/>
        </p:nvSpPr>
        <p:spPr>
          <a:xfrm>
            <a:off x="7267575" y="541020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Groq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8315148-0991-4B07-ADA2-D456F029B329}"/>
              </a:ext>
            </a:extLst>
          </p:cNvPr>
          <p:cNvSpPr>
            <a:spLocks noGrp="1"/>
          </p:cNvSpPr>
          <p:nvPr/>
        </p:nvSpPr>
        <p:spPr>
          <a:xfrm>
            <a:off x="9467850" y="5391150"/>
            <a:ext cx="1962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63EB183-DC6E-4CF6-BB11-C671E2EB956E}"/>
              </a:ext>
            </a:extLst>
          </p:cNvPr>
          <p:cNvSpPr>
            <a:spLocks noGrp="1"/>
          </p:cNvSpPr>
          <p:nvPr/>
        </p:nvSpPr>
        <p:spPr>
          <a:xfrm>
            <a:off x="9505950" y="5410200"/>
            <a:ext cx="1885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SQLGlot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935976D-202E-4370-9EA4-45672C20F93B}"/>
              </a:ext>
            </a:extLst>
          </p:cNvPr>
          <p:cNvSpPr>
            <a:spLocks noGrp="1"/>
          </p:cNvSpPr>
          <p:nvPr/>
        </p:nvSpPr>
        <p:spPr>
          <a:xfrm>
            <a:off x="514350" y="5953125"/>
            <a:ext cx="11144250" cy="304800"/>
          </a:xfrm>
          <a:prstGeom prst="roundRect">
            <a:avLst>
              <a:gd name="adj" fmla="val 25000"/>
            </a:avLst>
          </a:prstGeom>
          <a:solidFill>
            <a:srgbClr val="151929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FB121FB-978F-49E7-AC6F-7A1180C3A3D5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0135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4444"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External access stays disabled during query execution; approved in-memory datasets remain the analytical boundary.</a:t>
            </a:r>
          </a:p>
        </p:txBody>
      </p:sp>
    </p:spTree>
    <p:extLst>
      <p:ext uri="{BB962C8B-B14F-4D97-AF65-F5344CB8AC3E}">
        <p14:creationId xmlns:p14="http://schemas.microsoft.com/office/powerpoint/2010/main" val="328275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C8980E9B-ECD6-4B25-B347-C00282A4361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78384"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Executive payment health combines scale, quality, and reported dispute exposure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E26766-54AD-47C9-8200-3909D3056BEC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48E86D-FDD9-4AB6-9825-96A4C9B0C382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1180DF-EA88-40F1-B659-0D1B0B990418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C6763E-CCD3-4BEA-9099-3BB8ABB05E58}"/>
              </a:ext>
            </a:extLst>
          </p:cNvPr>
          <p:cNvSpPr>
            <a:spLocks noGrp="1"/>
          </p:cNvSpPr>
          <p:nvPr/>
        </p:nvSpPr>
        <p:spPr>
          <a:xfrm>
            <a:off x="486352" y="6600824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284E2A-95AE-4B6E-BB37-68E83F2D8CDF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2038350" cy="914400"/>
          </a:xfrm>
          <a:prstGeom prst="roundRect">
            <a:avLst>
              <a:gd name="adj" fmla="val 1458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AED859-21C4-4273-8CF1-5B534A748829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47625" cy="9144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50E6BD-3F4D-4D19-A4C8-0B17F33494A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77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2961"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TOTAL TRANSACTION VOLUME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5520A8-1C99-43E8-B724-E62C29F8289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771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₹25.00 Cr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05B2A8-358C-4F7B-ADAB-68EEFE9FC7F8}"/>
              </a:ext>
            </a:extLst>
          </p:cNvPr>
          <p:cNvSpPr>
            <a:spLocks noGrp="1"/>
          </p:cNvSpPr>
          <p:nvPr/>
        </p:nvSpPr>
        <p:spPr>
          <a:xfrm>
            <a:off x="2743200" y="1200150"/>
            <a:ext cx="2038350" cy="914400"/>
          </a:xfrm>
          <a:prstGeom prst="roundRect">
            <a:avLst>
              <a:gd name="adj" fmla="val 1458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451EE9-FA80-41A9-A897-7FC9BE0AD3E9}"/>
              </a:ext>
            </a:extLst>
          </p:cNvPr>
          <p:cNvSpPr>
            <a:spLocks noGrp="1"/>
          </p:cNvSpPr>
          <p:nvPr/>
        </p:nvSpPr>
        <p:spPr>
          <a:xfrm>
            <a:off x="2743200" y="1200150"/>
            <a:ext cx="47625" cy="9144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B9FB9B-1FAE-4149-BA9C-8349C5EBAC10}"/>
              </a:ext>
            </a:extLst>
          </p:cNvPr>
          <p:cNvSpPr>
            <a:spLocks noGrp="1"/>
          </p:cNvSpPr>
          <p:nvPr/>
        </p:nvSpPr>
        <p:spPr>
          <a:xfrm>
            <a:off x="2914650" y="1323975"/>
            <a:ext cx="177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AVERAGE TICKET SIZE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7F2D4E-8B4A-4C5E-8D5E-73D73A906C3F}"/>
              </a:ext>
            </a:extLst>
          </p:cNvPr>
          <p:cNvSpPr>
            <a:spLocks noGrp="1"/>
          </p:cNvSpPr>
          <p:nvPr/>
        </p:nvSpPr>
        <p:spPr>
          <a:xfrm>
            <a:off x="2914650" y="1571625"/>
            <a:ext cx="1771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₹12,500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730939-96C5-4601-850C-AB104AC4AF84}"/>
              </a:ext>
            </a:extLst>
          </p:cNvPr>
          <p:cNvSpPr>
            <a:spLocks noGrp="1"/>
          </p:cNvSpPr>
          <p:nvPr/>
        </p:nvSpPr>
        <p:spPr>
          <a:xfrm>
            <a:off x="4972050" y="1200150"/>
            <a:ext cx="2038350" cy="914400"/>
          </a:xfrm>
          <a:prstGeom prst="roundRect">
            <a:avLst>
              <a:gd name="adj" fmla="val 1458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84AA66-7CD4-40C5-ADA0-F1906BC14A42}"/>
              </a:ext>
            </a:extLst>
          </p:cNvPr>
          <p:cNvSpPr>
            <a:spLocks noGrp="1"/>
          </p:cNvSpPr>
          <p:nvPr/>
        </p:nvSpPr>
        <p:spPr>
          <a:xfrm>
            <a:off x="4972050" y="1200150"/>
            <a:ext cx="47625" cy="9144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A1622F-8FFB-4515-A9D2-E30C829F3822}"/>
              </a:ext>
            </a:extLst>
          </p:cNvPr>
          <p:cNvSpPr>
            <a:spLocks noGrp="1"/>
          </p:cNvSpPr>
          <p:nvPr/>
        </p:nvSpPr>
        <p:spPr>
          <a:xfrm>
            <a:off x="5143500" y="1323975"/>
            <a:ext cx="177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FAILURE RATE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4791E4-1305-4812-B16F-C83E96E6F9AB}"/>
              </a:ext>
            </a:extLst>
          </p:cNvPr>
          <p:cNvSpPr>
            <a:spLocks noGrp="1"/>
          </p:cNvSpPr>
          <p:nvPr/>
        </p:nvSpPr>
        <p:spPr>
          <a:xfrm>
            <a:off x="5143500" y="1571625"/>
            <a:ext cx="1771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8.05%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D8813D-7385-4D8E-9BD6-4601CD77D97C}"/>
              </a:ext>
            </a:extLst>
          </p:cNvPr>
          <p:cNvSpPr>
            <a:spLocks noGrp="1"/>
          </p:cNvSpPr>
          <p:nvPr/>
        </p:nvSpPr>
        <p:spPr>
          <a:xfrm>
            <a:off x="7200900" y="1200150"/>
            <a:ext cx="2038350" cy="914400"/>
          </a:xfrm>
          <a:prstGeom prst="roundRect">
            <a:avLst>
              <a:gd name="adj" fmla="val 1458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615366-ED23-40F3-87BF-D5CBA3210CCE}"/>
              </a:ext>
            </a:extLst>
          </p:cNvPr>
          <p:cNvSpPr>
            <a:spLocks noGrp="1"/>
          </p:cNvSpPr>
          <p:nvPr/>
        </p:nvSpPr>
        <p:spPr>
          <a:xfrm>
            <a:off x="7200900" y="1200150"/>
            <a:ext cx="47625" cy="9144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32F961-8761-4070-BE07-7F0882EA2AF0}"/>
              </a:ext>
            </a:extLst>
          </p:cNvPr>
          <p:cNvSpPr>
            <a:spLocks noGrp="1"/>
          </p:cNvSpPr>
          <p:nvPr/>
        </p:nvSpPr>
        <p:spPr>
          <a:xfrm>
            <a:off x="7372350" y="1323975"/>
            <a:ext cx="177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DISPUTED VOLUME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83A4F7-58EA-43BF-B934-D90F06E8FF87}"/>
              </a:ext>
            </a:extLst>
          </p:cNvPr>
          <p:cNvSpPr>
            <a:spLocks noGrp="1"/>
          </p:cNvSpPr>
          <p:nvPr/>
        </p:nvSpPr>
        <p:spPr>
          <a:xfrm>
            <a:off x="7372350" y="1571625"/>
            <a:ext cx="1771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₹88.9 Lakh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80816F-ED83-4ED2-BDE2-26B0F0EC845B}"/>
              </a:ext>
            </a:extLst>
          </p:cNvPr>
          <p:cNvSpPr>
            <a:spLocks noGrp="1"/>
          </p:cNvSpPr>
          <p:nvPr/>
        </p:nvSpPr>
        <p:spPr>
          <a:xfrm>
            <a:off x="9429750" y="1200150"/>
            <a:ext cx="2038350" cy="914400"/>
          </a:xfrm>
          <a:prstGeom prst="roundRect">
            <a:avLst>
              <a:gd name="adj" fmla="val 1458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E8D1388-6A02-4C7C-A542-5296E42FF192}"/>
              </a:ext>
            </a:extLst>
          </p:cNvPr>
          <p:cNvSpPr>
            <a:spLocks noGrp="1"/>
          </p:cNvSpPr>
          <p:nvPr/>
        </p:nvSpPr>
        <p:spPr>
          <a:xfrm>
            <a:off x="9429750" y="1200150"/>
            <a:ext cx="47625" cy="9144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D2F2F3-BCAD-48C6-A0D6-D2D56A975798}"/>
              </a:ext>
            </a:extLst>
          </p:cNvPr>
          <p:cNvSpPr>
            <a:spLocks noGrp="1"/>
          </p:cNvSpPr>
          <p:nvPr/>
        </p:nvSpPr>
        <p:spPr>
          <a:xfrm>
            <a:off x="9601200" y="1323975"/>
            <a:ext cx="1771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4054"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CHARGEBACK LOSS RATIO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97B0B5-8104-4406-842B-5BB73379A8D4}"/>
              </a:ext>
            </a:extLst>
          </p:cNvPr>
          <p:cNvSpPr>
            <a:spLocks noGrp="1"/>
          </p:cNvSpPr>
          <p:nvPr/>
        </p:nvSpPr>
        <p:spPr>
          <a:xfrm>
            <a:off x="9601200" y="1571625"/>
            <a:ext cx="1771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2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3.56%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82A23-3A2E-4CF1-99E9-F2CB29FCBD61}"/>
              </a:ext>
            </a:extLst>
          </p:cNvPr>
          <p:cNvSpPr>
            <a:spLocks noGrp="1"/>
          </p:cNvSpPr>
          <p:nvPr/>
        </p:nvSpPr>
        <p:spPr>
          <a:xfrm>
            <a:off x="590550" y="22669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20,000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D966E4-6F49-4E16-A27E-63A4210E74F4}"/>
              </a:ext>
            </a:extLst>
          </p:cNvPr>
          <p:cNvSpPr>
            <a:spLocks noGrp="1"/>
          </p:cNvSpPr>
          <p:nvPr/>
        </p:nvSpPr>
        <p:spPr>
          <a:xfrm>
            <a:off x="1600200" y="2276475"/>
            <a:ext cx="1638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cleaned transactions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FD5995-AB27-496D-B635-EAFD553E1FA8}"/>
              </a:ext>
            </a:extLst>
          </p:cNvPr>
          <p:cNvSpPr>
            <a:spLocks noGrp="1"/>
          </p:cNvSpPr>
          <p:nvPr/>
        </p:nvSpPr>
        <p:spPr>
          <a:xfrm>
            <a:off x="3371850" y="22669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2,800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205D68-B092-4847-842F-65B55EA7CED2}"/>
              </a:ext>
            </a:extLst>
          </p:cNvPr>
          <p:cNvSpPr>
            <a:spLocks noGrp="1"/>
          </p:cNvSpPr>
          <p:nvPr/>
        </p:nvSpPr>
        <p:spPr>
          <a:xfrm>
            <a:off x="4381500" y="2276475"/>
            <a:ext cx="1638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chargeback complaints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B740A1-B857-44FC-AA1D-2983B8F12A80}"/>
              </a:ext>
            </a:extLst>
          </p:cNvPr>
          <p:cNvSpPr>
            <a:spLocks noGrp="1"/>
          </p:cNvSpPr>
          <p:nvPr/>
        </p:nvSpPr>
        <p:spPr>
          <a:xfrm>
            <a:off x="6153150" y="22669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5.0%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C30CF1-1B08-416E-98F7-65D47BE4F3FE}"/>
              </a:ext>
            </a:extLst>
          </p:cNvPr>
          <p:cNvSpPr>
            <a:spLocks noGrp="1"/>
          </p:cNvSpPr>
          <p:nvPr/>
        </p:nvSpPr>
        <p:spPr>
          <a:xfrm>
            <a:off x="7162800" y="2276475"/>
            <a:ext cx="1638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missing UTR rate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DC3F0A-179F-4801-9AAF-5B8F826CF513}"/>
              </a:ext>
            </a:extLst>
          </p:cNvPr>
          <p:cNvSpPr>
            <a:spLocks noGrp="1"/>
          </p:cNvSpPr>
          <p:nvPr/>
        </p:nvSpPr>
        <p:spPr>
          <a:xfrm>
            <a:off x="8934450" y="22669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23.5 days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CA49E2-5A84-4DF2-936A-0484B8D6FB0D}"/>
              </a:ext>
            </a:extLst>
          </p:cNvPr>
          <p:cNvSpPr>
            <a:spLocks noGrp="1"/>
          </p:cNvSpPr>
          <p:nvPr/>
        </p:nvSpPr>
        <p:spPr>
          <a:xfrm>
            <a:off x="9944100" y="2276475"/>
            <a:ext cx="1638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average reporting delay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D915F35-81A0-4B81-8940-519D29478578}"/>
              </a:ext>
            </a:extLst>
          </p:cNvPr>
          <p:cNvSpPr>
            <a:spLocks noGrp="1"/>
          </p:cNvSpPr>
          <p:nvPr/>
        </p:nvSpPr>
        <p:spPr>
          <a:xfrm>
            <a:off x="486352" y="2671763"/>
            <a:ext cx="5276850" cy="1614487"/>
          </a:xfrm>
          <a:prstGeom prst="roundRect">
            <a:avLst>
              <a:gd name="adj" fmla="val 8219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59AC32-ED57-4D0C-82AA-7C862975DC53}"/>
              </a:ext>
            </a:extLst>
          </p:cNvPr>
          <p:cNvSpPr>
            <a:spLocks noGrp="1"/>
          </p:cNvSpPr>
          <p:nvPr/>
        </p:nvSpPr>
        <p:spPr>
          <a:xfrm>
            <a:off x="533400" y="2689371"/>
            <a:ext cx="4933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Daily gross vs successful volume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48A26DC-9D97-42AB-A6A2-6D7954C78BF4}"/>
              </a:ext>
            </a:extLst>
          </p:cNvPr>
          <p:cNvSpPr>
            <a:spLocks noGrp="1"/>
          </p:cNvSpPr>
          <p:nvPr/>
        </p:nvSpPr>
        <p:spPr>
          <a:xfrm>
            <a:off x="5905500" y="2681287"/>
            <a:ext cx="5676900" cy="1590675"/>
          </a:xfrm>
          <a:prstGeom prst="roundRect">
            <a:avLst>
              <a:gd name="adj" fmla="val 8219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750180-92BC-42C5-B239-FB7B60D8A0B7}"/>
              </a:ext>
            </a:extLst>
          </p:cNvPr>
          <p:cNvSpPr>
            <a:spLocks noGrp="1"/>
          </p:cNvSpPr>
          <p:nvPr/>
        </p:nvSpPr>
        <p:spPr>
          <a:xfrm>
            <a:off x="6076950" y="270510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Transaction-status distribution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65FA7D0-928F-4F78-8D44-93F0775EDC04}"/>
              </a:ext>
            </a:extLst>
          </p:cNvPr>
          <p:cNvSpPr>
            <a:spLocks noGrp="1"/>
          </p:cNvSpPr>
          <p:nvPr/>
        </p:nvSpPr>
        <p:spPr>
          <a:xfrm>
            <a:off x="396876" y="4414837"/>
            <a:ext cx="5276850" cy="1699635"/>
          </a:xfrm>
          <a:prstGeom prst="roundRect">
            <a:avLst>
              <a:gd name="adj" fmla="val 7792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4853B39-5422-4E59-96FA-0E5FCB7C8553}"/>
              </a:ext>
            </a:extLst>
          </p:cNvPr>
          <p:cNvSpPr>
            <a:spLocks noGrp="1"/>
          </p:cNvSpPr>
          <p:nvPr/>
        </p:nvSpPr>
        <p:spPr>
          <a:xfrm>
            <a:off x="590550" y="4502295"/>
            <a:ext cx="4933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Hour-by-day transaction heatmap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1C02583-A4EF-4153-BFF4-DB62EE08C08B}"/>
              </a:ext>
            </a:extLst>
          </p:cNvPr>
          <p:cNvSpPr>
            <a:spLocks noGrp="1"/>
          </p:cNvSpPr>
          <p:nvPr/>
        </p:nvSpPr>
        <p:spPr>
          <a:xfrm>
            <a:off x="5981700" y="4438649"/>
            <a:ext cx="5676900" cy="1699635"/>
          </a:xfrm>
          <a:prstGeom prst="roundRect">
            <a:avLst>
              <a:gd name="adj" fmla="val 7792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8C256B7-8250-4AA5-9E2A-593451A9874E}"/>
              </a:ext>
            </a:extLst>
          </p:cNvPr>
          <p:cNvSpPr>
            <a:spLocks noGrp="1"/>
          </p:cNvSpPr>
          <p:nvPr/>
        </p:nvSpPr>
        <p:spPr>
          <a:xfrm>
            <a:off x="6096000" y="4467225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Hour-by-day failure-rate heatmap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D95F03-7471-481A-A537-46DC6FF25F70}"/>
              </a:ext>
            </a:extLst>
          </p:cNvPr>
          <p:cNvSpPr>
            <a:spLocks noGrp="1"/>
          </p:cNvSpPr>
          <p:nvPr/>
        </p:nvSpPr>
        <p:spPr>
          <a:xfrm>
            <a:off x="514350" y="6186487"/>
            <a:ext cx="111442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F59E0B"/>
                </a:solidFill>
                <a:latin typeface="Arial"/>
                <a:ea typeface="Arial"/>
                <a:cs typeface="Arial"/>
              </a:rPr>
              <a:t>Thresholds surface investigation priorities; they do not establish confirmed fraud.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66FB0333-014D-D149-DD02-99FF497D2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3097503"/>
            <a:ext cx="4699000" cy="97919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33E6F9A-2D9E-55A9-4F60-9E133B98F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3052763"/>
            <a:ext cx="4991100" cy="115310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9E18962-1270-7A9F-C7CB-B5B1461C4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49" y="4843463"/>
            <a:ext cx="4655705" cy="1221652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2D67F71-2332-30A6-4F32-229C35022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50" y="4800310"/>
            <a:ext cx="5048004" cy="126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33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560B051-A8A6-4249-B915-39E621F7579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8867"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Merchant Risk Center creates an explainable investigation 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0E48EB-D7B7-46E4-AD46-4BDF0AE2798D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A39C3C-8D7D-4D40-A749-0EF644F20295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39A933-ED39-4E79-901E-ED3180D27FFD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0EAE7-C4BA-4E13-96F9-3D0A23944E11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EF7C80-C614-4546-9A1E-44DAF0D4972E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44386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Compare declared and observed ticket sizes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Calculate transaction and reported disputed volume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Measure failure rates and chargeback exposure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Produce a composite merchant-risk score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Filter by category and rank merchants in a league table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AB9EDF-C6A8-491E-AA64-822C5A2F9C50}"/>
              </a:ext>
            </a:extLst>
          </p:cNvPr>
          <p:cNvSpPr>
            <a:spLocks noGrp="1"/>
          </p:cNvSpPr>
          <p:nvPr/>
        </p:nvSpPr>
        <p:spPr>
          <a:xfrm>
            <a:off x="514350" y="3114675"/>
            <a:ext cx="4438650" cy="1524000"/>
          </a:xfrm>
          <a:prstGeom prst="roundRect">
            <a:avLst>
              <a:gd name="adj" fmla="val 8750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550336-DAF2-4292-9391-D100C7E55DD4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COMPOSITE RISK SCORE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F83E81-334E-45BD-9322-670969257833}"/>
              </a:ext>
            </a:extLst>
          </p:cNvPr>
          <p:cNvSpPr>
            <a:spLocks noGrp="1"/>
          </p:cNvSpPr>
          <p:nvPr/>
        </p:nvSpPr>
        <p:spPr>
          <a:xfrm>
            <a:off x="723900" y="3590925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6956"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min(100,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ACF768-A567-4F22-9280-03CE8098C1A5}"/>
              </a:ext>
            </a:extLst>
          </p:cNvPr>
          <p:cNvSpPr>
            <a:spLocks noGrp="1"/>
          </p:cNvSpPr>
          <p:nvPr/>
        </p:nvSpPr>
        <p:spPr>
          <a:xfrm>
            <a:off x="1066800" y="3876675"/>
            <a:ext cx="3524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0.4 × chargeback-volume ratio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3E3CAB-C7E3-4FF9-8A57-D77CF741FE38}"/>
              </a:ext>
            </a:extLst>
          </p:cNvPr>
          <p:cNvSpPr>
            <a:spLocks noGrp="1"/>
          </p:cNvSpPr>
          <p:nvPr/>
        </p:nvSpPr>
        <p:spPr>
          <a:xfrm>
            <a:off x="1066800" y="4133850"/>
            <a:ext cx="3524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+ 0.3 × failure rate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350828-2BE1-41BD-8B7E-F027FEC20AD5}"/>
              </a:ext>
            </a:extLst>
          </p:cNvPr>
          <p:cNvSpPr>
            <a:spLocks noGrp="1"/>
          </p:cNvSpPr>
          <p:nvPr/>
        </p:nvSpPr>
        <p:spPr>
          <a:xfrm>
            <a:off x="1066800" y="4391025"/>
            <a:ext cx="3524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+ 0.3 × min(dispute count, 50))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4C92EF1-018E-4960-8D3E-836BBC89BF8F}"/>
              </a:ext>
            </a:extLst>
          </p:cNvPr>
          <p:cNvSpPr>
            <a:spLocks noGrp="1"/>
          </p:cNvSpPr>
          <p:nvPr/>
        </p:nvSpPr>
        <p:spPr>
          <a:xfrm>
            <a:off x="514350" y="4895850"/>
            <a:ext cx="4438650" cy="904875"/>
          </a:xfrm>
          <a:prstGeom prst="roundRect">
            <a:avLst>
              <a:gd name="adj" fmla="val 12632"/>
            </a:avLst>
          </a:prstGeom>
          <a:solidFill>
            <a:srgbClr val="1014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16EEF5-7316-4779-8204-23BF40AEBD36}"/>
              </a:ext>
            </a:extLst>
          </p:cNvPr>
          <p:cNvSpPr>
            <a:spLocks noGrp="1"/>
          </p:cNvSpPr>
          <p:nvPr/>
        </p:nvSpPr>
        <p:spPr>
          <a:xfrm>
            <a:off x="704850" y="5048250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INVESTIGATION PRINCIPLE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6FC7CD-D43A-4A7B-8487-097A03DB7C43}"/>
              </a:ext>
            </a:extLst>
          </p:cNvPr>
          <p:cNvSpPr>
            <a:spLocks noGrp="1"/>
          </p:cNvSpPr>
          <p:nvPr/>
        </p:nvSpPr>
        <p:spPr>
          <a:xfrm>
            <a:off x="704850" y="5295900"/>
            <a:ext cx="394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The score prioritizes review. It does not independently prove fraud.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BFE5FA8-3A60-4756-A7FE-46892C67E754}"/>
              </a:ext>
            </a:extLst>
          </p:cNvPr>
          <p:cNvSpPr>
            <a:spLocks noGrp="1"/>
          </p:cNvSpPr>
          <p:nvPr/>
        </p:nvSpPr>
        <p:spPr>
          <a:xfrm>
            <a:off x="5257800" y="1257300"/>
            <a:ext cx="6400800" cy="1371600"/>
          </a:xfrm>
          <a:prstGeom prst="roundRect">
            <a:avLst>
              <a:gd name="adj" fmla="val 8333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89DCD4-A623-4422-9AB2-BB16ECA1FB60}"/>
              </a:ext>
            </a:extLst>
          </p:cNvPr>
          <p:cNvSpPr>
            <a:spLocks noGrp="1"/>
          </p:cNvSpPr>
          <p:nvPr/>
        </p:nvSpPr>
        <p:spPr>
          <a:xfrm>
            <a:off x="5343525" y="1304925"/>
            <a:ext cx="6057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Declared vs observed ticket scatter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18493A-CD5F-47FC-98F0-1ADF19252C9F}"/>
              </a:ext>
            </a:extLst>
          </p:cNvPr>
          <p:cNvSpPr>
            <a:spLocks noGrp="1"/>
          </p:cNvSpPr>
          <p:nvPr/>
        </p:nvSpPr>
        <p:spPr>
          <a:xfrm>
            <a:off x="5257800" y="2875107"/>
            <a:ext cx="6400800" cy="1371600"/>
          </a:xfrm>
          <a:prstGeom prst="roundRect">
            <a:avLst>
              <a:gd name="adj" fmla="val 8333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086DC5-1E3E-479F-96D8-51B59B2CE61B}"/>
              </a:ext>
            </a:extLst>
          </p:cNvPr>
          <p:cNvSpPr>
            <a:spLocks noGrp="1"/>
          </p:cNvSpPr>
          <p:nvPr/>
        </p:nvSpPr>
        <p:spPr>
          <a:xfrm>
            <a:off x="5429250" y="2905125"/>
            <a:ext cx="6057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Category chargeback-ratio bar chart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5924AF9-5C02-4004-B6D6-4A248D65C745}"/>
              </a:ext>
            </a:extLst>
          </p:cNvPr>
          <p:cNvSpPr>
            <a:spLocks noGrp="1"/>
          </p:cNvSpPr>
          <p:nvPr/>
        </p:nvSpPr>
        <p:spPr>
          <a:xfrm>
            <a:off x="5257800" y="4381500"/>
            <a:ext cx="6400800" cy="2295525"/>
          </a:xfrm>
          <a:prstGeom prst="roundRect">
            <a:avLst>
              <a:gd name="adj" fmla="val 8054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F96A74-D8BD-4FD3-A14C-7819DB411138}"/>
              </a:ext>
            </a:extLst>
          </p:cNvPr>
          <p:cNvSpPr>
            <a:spLocks noGrp="1"/>
          </p:cNvSpPr>
          <p:nvPr/>
        </p:nvSpPr>
        <p:spPr>
          <a:xfrm>
            <a:off x="5457825" y="4424363"/>
            <a:ext cx="6057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High-risk merchant league table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A61E03D-06E7-24AD-3460-27A4E1BB4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0" y="1609724"/>
            <a:ext cx="5972175" cy="93345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09BDA53-53FB-BD48-8BD2-AE8EB8611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450" y="3243406"/>
            <a:ext cx="5962650" cy="89044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3AC19F3-D54E-7AAF-0853-C49C62441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49" y="4748213"/>
            <a:ext cx="5972176" cy="182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78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42BCDD9-BC23-4556-84C6-372669B4155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Velocity anomalies expose departures from user baselines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6AF9E8-6592-41BA-8B02-7DA2BE899E4A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BF4354-B80C-4397-8E1B-933C2FDD774F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7845EF-E67B-4A69-A248-5EB2E1111839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CAE38F-2F49-454B-B930-FCEEA3975E23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CC219C-E872-462B-8E64-5A2F986A27BF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40957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4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EF0F8"/>
                </a:solidFill>
                <a:latin typeface="Arial"/>
                <a:ea typeface="Arial"/>
                <a:cs typeface="Arial"/>
              </a:rPr>
              <a:t>Aggregate transaction activity by user and hour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4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EF0F8"/>
                </a:solidFill>
                <a:latin typeface="Arial"/>
                <a:ea typeface="Arial"/>
                <a:cs typeface="Arial"/>
              </a:rPr>
              <a:t>Establish each user’s normal hourly activity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4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EF0F8"/>
                </a:solidFill>
                <a:latin typeface="Arial"/>
                <a:ea typeface="Arial"/>
                <a:cs typeface="Arial"/>
              </a:rPr>
              <a:t>Calculate deviation from expected behavior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4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EEF0F8"/>
                </a:solidFill>
                <a:latin typeface="Arial"/>
                <a:ea typeface="Arial"/>
                <a:cs typeface="Arial"/>
              </a:rPr>
              <a:t>Flag unusually high payment velocity for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4B776-1536-4F8F-9DFB-E572E5990813}"/>
              </a:ext>
            </a:extLst>
          </p:cNvPr>
          <p:cNvSpPr>
            <a:spLocks noGrp="1"/>
          </p:cNvSpPr>
          <p:nvPr/>
        </p:nvSpPr>
        <p:spPr>
          <a:xfrm>
            <a:off x="514350" y="315277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PRACTICAL USE CASES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53A155-318A-4AC2-865B-9E1E6823AD39}"/>
              </a:ext>
            </a:extLst>
          </p:cNvPr>
          <p:cNvSpPr>
            <a:spLocks noGrp="1"/>
          </p:cNvSpPr>
          <p:nvPr/>
        </p:nvSpPr>
        <p:spPr>
          <a:xfrm>
            <a:off x="514350" y="3429000"/>
            <a:ext cx="409575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B95B0"/>
                </a:solidFill>
                <a:latin typeface="Arial"/>
                <a:ea typeface="Arial"/>
                <a:cs typeface="Arial"/>
              </a:rPr>
              <a:t>Automated transaction bursts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B95B0"/>
                </a:solidFill>
                <a:latin typeface="Arial"/>
                <a:ea typeface="Arial"/>
                <a:cs typeface="Arial"/>
              </a:rPr>
              <a:t>Account takeover behavior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B95B0"/>
                </a:solidFill>
                <a:latin typeface="Arial"/>
                <a:ea typeface="Arial"/>
                <a:cs typeface="Arial"/>
              </a:rPr>
              <a:t>Mule-account activity</a:t>
            </a:r>
          </a:p>
          <a:p>
            <a:pPr marL="228600" indent="-114300">
              <a:lnSpc>
                <a:spcPct val="104000"/>
              </a:lnSpc>
              <a:spcAft>
                <a:spcPts val="600"/>
              </a:spcAft>
              <a:buNone/>
              <a:defRPr sz="135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8B95B0"/>
                </a:solidFill>
                <a:latin typeface="Arial"/>
                <a:ea typeface="Arial"/>
                <a:cs typeface="Arial"/>
              </a:rPr>
              <a:t>Sudden deviation from established patterns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E7407C-88F3-4A3C-A464-397ED3838C31}"/>
              </a:ext>
            </a:extLst>
          </p:cNvPr>
          <p:cNvSpPr>
            <a:spLocks noGrp="1"/>
          </p:cNvSpPr>
          <p:nvPr/>
        </p:nvSpPr>
        <p:spPr>
          <a:xfrm>
            <a:off x="4905375" y="1200150"/>
            <a:ext cx="6753225" cy="4400550"/>
          </a:xfrm>
          <a:prstGeom prst="roundRect">
            <a:avLst>
              <a:gd name="adj" fmla="val 3030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D26F86-B436-4F7F-81A1-ABCE835549F2}"/>
              </a:ext>
            </a:extLst>
          </p:cNvPr>
          <p:cNvSpPr>
            <a:spLocks noGrp="1"/>
          </p:cNvSpPr>
          <p:nvPr/>
        </p:nvSpPr>
        <p:spPr>
          <a:xfrm>
            <a:off x="5143500" y="137160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SCHEMATIC USER-HOUR VELOCITY VIEW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97A0C-CDAA-48F9-B7D7-C8DCCE1BB820}"/>
              </a:ext>
            </a:extLst>
          </p:cNvPr>
          <p:cNvSpPr>
            <a:spLocks noGrp="1"/>
          </p:cNvSpPr>
          <p:nvPr/>
        </p:nvSpPr>
        <p:spPr>
          <a:xfrm>
            <a:off x="5476875" y="1828800"/>
            <a:ext cx="19050" cy="3181350"/>
          </a:xfrm>
          <a:prstGeom prst="rect">
            <a:avLst/>
          </a:prstGeom>
          <a:solidFill>
            <a:srgbClr val="8B95B0"/>
          </a:solidFill>
          <a:ln w="9525">
            <a:solidFill>
              <a:srgbClr val="8B95B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478A7-CABC-485A-ADD5-5680D9BC137E}"/>
              </a:ext>
            </a:extLst>
          </p:cNvPr>
          <p:cNvSpPr>
            <a:spLocks noGrp="1"/>
          </p:cNvSpPr>
          <p:nvPr/>
        </p:nvSpPr>
        <p:spPr>
          <a:xfrm>
            <a:off x="5476875" y="5010150"/>
            <a:ext cx="5800725" cy="19050"/>
          </a:xfrm>
          <a:prstGeom prst="rect">
            <a:avLst/>
          </a:prstGeom>
          <a:solidFill>
            <a:srgbClr val="8B95B0"/>
          </a:solidFill>
          <a:ln w="9525">
            <a:solidFill>
              <a:srgbClr val="8B95B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EA1EBE-7409-4C74-8AFF-871BDDE9073A}"/>
              </a:ext>
            </a:extLst>
          </p:cNvPr>
          <p:cNvSpPr>
            <a:spLocks noGrp="1"/>
          </p:cNvSpPr>
          <p:nvPr/>
        </p:nvSpPr>
        <p:spPr>
          <a:xfrm>
            <a:off x="5476875" y="3886200"/>
            <a:ext cx="5800725" cy="190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dash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9CF623-1380-4CB5-9EAD-DDB48714AFE1}"/>
              </a:ext>
            </a:extLst>
          </p:cNvPr>
          <p:cNvSpPr>
            <a:spLocks noGrp="1"/>
          </p:cNvSpPr>
          <p:nvPr/>
        </p:nvSpPr>
        <p:spPr>
          <a:xfrm>
            <a:off x="9382125" y="3657600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MEDIUM &gt; 1.5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4302FD-063D-4B37-8960-F787BC394257}"/>
              </a:ext>
            </a:extLst>
          </p:cNvPr>
          <p:cNvSpPr>
            <a:spLocks noGrp="1"/>
          </p:cNvSpPr>
          <p:nvPr/>
        </p:nvSpPr>
        <p:spPr>
          <a:xfrm>
            <a:off x="5476875" y="3238500"/>
            <a:ext cx="5800725" cy="190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dash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EA856-4D28-4D80-BF80-F2829B4C48E1}"/>
              </a:ext>
            </a:extLst>
          </p:cNvPr>
          <p:cNvSpPr>
            <a:spLocks noGrp="1"/>
          </p:cNvSpPr>
          <p:nvPr/>
        </p:nvSpPr>
        <p:spPr>
          <a:xfrm>
            <a:off x="9382125" y="3009900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HIGH &gt;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6EA0AB-E9BC-4154-8152-63F7C04BA5A0}"/>
              </a:ext>
            </a:extLst>
          </p:cNvPr>
          <p:cNvSpPr>
            <a:spLocks noGrp="1"/>
          </p:cNvSpPr>
          <p:nvPr/>
        </p:nvSpPr>
        <p:spPr>
          <a:xfrm>
            <a:off x="5476875" y="2286000"/>
            <a:ext cx="5800725" cy="19050"/>
          </a:xfrm>
          <a:prstGeom prst="rect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dash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BB2898-949E-4273-B4D0-E35730224C7A}"/>
              </a:ext>
            </a:extLst>
          </p:cNvPr>
          <p:cNvSpPr>
            <a:spLocks noGrp="1"/>
          </p:cNvSpPr>
          <p:nvPr/>
        </p:nvSpPr>
        <p:spPr>
          <a:xfrm>
            <a:off x="9382125" y="2057400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975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CRITICAL &gt; 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A4852C8-049E-44A3-BEEF-F1EB51CD13D0}"/>
              </a:ext>
            </a:extLst>
          </p:cNvPr>
          <p:cNvSpPr>
            <a:spLocks noGrp="1"/>
          </p:cNvSpPr>
          <p:nvPr/>
        </p:nvSpPr>
        <p:spPr>
          <a:xfrm>
            <a:off x="5905500" y="4495800"/>
            <a:ext cx="114300" cy="11430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7826A2-728F-4C78-843D-92535B0E3934}"/>
              </a:ext>
            </a:extLst>
          </p:cNvPr>
          <p:cNvSpPr>
            <a:spLocks noGrp="1"/>
          </p:cNvSpPr>
          <p:nvPr/>
        </p:nvSpPr>
        <p:spPr>
          <a:xfrm>
            <a:off x="6429375" y="4333875"/>
            <a:ext cx="114300" cy="11430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E363E3-C414-4C8E-B852-7F07F96292E8}"/>
              </a:ext>
            </a:extLst>
          </p:cNvPr>
          <p:cNvSpPr>
            <a:spLocks noGrp="1"/>
          </p:cNvSpPr>
          <p:nvPr/>
        </p:nvSpPr>
        <p:spPr>
          <a:xfrm>
            <a:off x="6905625" y="4591050"/>
            <a:ext cx="114300" cy="114300"/>
          </a:xfrm>
          <a:prstGeom prst="ellipse">
            <a:avLst/>
          </a:prstGeom>
          <a:solidFill>
            <a:srgbClr val="6366F1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C4D8AF7-1B9D-4AB9-8505-6CF9CC591741}"/>
              </a:ext>
            </a:extLst>
          </p:cNvPr>
          <p:cNvSpPr>
            <a:spLocks noGrp="1"/>
          </p:cNvSpPr>
          <p:nvPr/>
        </p:nvSpPr>
        <p:spPr>
          <a:xfrm>
            <a:off x="7381875" y="4095750"/>
            <a:ext cx="114300" cy="11430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923B9BD-4AF7-45C7-9031-600C51879932}"/>
              </a:ext>
            </a:extLst>
          </p:cNvPr>
          <p:cNvSpPr>
            <a:spLocks noGrp="1"/>
          </p:cNvSpPr>
          <p:nvPr/>
        </p:nvSpPr>
        <p:spPr>
          <a:xfrm>
            <a:off x="7867650" y="4238625"/>
            <a:ext cx="114300" cy="114300"/>
          </a:xfrm>
          <a:prstGeom prst="ellipse">
            <a:avLst/>
          </a:prstGeom>
          <a:solidFill>
            <a:srgbClr val="6366F1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13F31B5-D261-4B4E-858D-FEDB99D00EAD}"/>
              </a:ext>
            </a:extLst>
          </p:cNvPr>
          <p:cNvSpPr>
            <a:spLocks noGrp="1"/>
          </p:cNvSpPr>
          <p:nvPr/>
        </p:nvSpPr>
        <p:spPr>
          <a:xfrm>
            <a:off x="8286750" y="3733800"/>
            <a:ext cx="114300" cy="1143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266098D-2247-4340-9870-389DD326485F}"/>
              </a:ext>
            </a:extLst>
          </p:cNvPr>
          <p:cNvSpPr>
            <a:spLocks noGrp="1"/>
          </p:cNvSpPr>
          <p:nvPr/>
        </p:nvSpPr>
        <p:spPr>
          <a:xfrm>
            <a:off x="8715375" y="3524250"/>
            <a:ext cx="114300" cy="1143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A992783-073C-4DF7-BDFF-2E70108D2C95}"/>
              </a:ext>
            </a:extLst>
          </p:cNvPr>
          <p:cNvSpPr>
            <a:spLocks noGrp="1"/>
          </p:cNvSpPr>
          <p:nvPr/>
        </p:nvSpPr>
        <p:spPr>
          <a:xfrm>
            <a:off x="9163050" y="3000375"/>
            <a:ext cx="114300" cy="1143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CFED71-8055-49F8-A469-31CD9A6292BD}"/>
              </a:ext>
            </a:extLst>
          </p:cNvPr>
          <p:cNvSpPr>
            <a:spLocks noGrp="1"/>
          </p:cNvSpPr>
          <p:nvPr/>
        </p:nvSpPr>
        <p:spPr>
          <a:xfrm>
            <a:off x="9639300" y="2705100"/>
            <a:ext cx="114300" cy="11430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15FE0F-2A83-403C-ADC9-1B1A2BF4FDC5}"/>
              </a:ext>
            </a:extLst>
          </p:cNvPr>
          <p:cNvSpPr>
            <a:spLocks noGrp="1"/>
          </p:cNvSpPr>
          <p:nvPr/>
        </p:nvSpPr>
        <p:spPr>
          <a:xfrm>
            <a:off x="10287000" y="2095500"/>
            <a:ext cx="152400" cy="15240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2417B93-4B60-4057-930D-F70F2E0BE5CB}"/>
              </a:ext>
            </a:extLst>
          </p:cNvPr>
          <p:cNvSpPr>
            <a:spLocks noGrp="1"/>
          </p:cNvSpPr>
          <p:nvPr/>
        </p:nvSpPr>
        <p:spPr>
          <a:xfrm>
            <a:off x="10810875" y="3143250"/>
            <a:ext cx="152400" cy="1524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2DE98B-02BC-445A-A9D1-C529B11984EC}"/>
              </a:ext>
            </a:extLst>
          </p:cNvPr>
          <p:cNvSpPr>
            <a:spLocks noGrp="1"/>
          </p:cNvSpPr>
          <p:nvPr/>
        </p:nvSpPr>
        <p:spPr>
          <a:xfrm>
            <a:off x="7334250" y="51816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5238"/>
          </a:bodyPr>
          <a:lstStyle/>
          <a:p>
            <a:pPr algn="ctr">
              <a:lnSpc>
                <a:spcPct val="100000"/>
              </a:lnSpc>
              <a:buNone/>
              <a:defRPr sz="1050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User-hour observation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07D03E-5600-448A-94E2-90AD55B5C588}"/>
              </a:ext>
            </a:extLst>
          </p:cNvPr>
          <p:cNvSpPr>
            <a:spLocks noGrp="1"/>
          </p:cNvSpPr>
          <p:nvPr/>
        </p:nvSpPr>
        <p:spPr>
          <a:xfrm>
            <a:off x="5010150" y="3086100"/>
            <a:ext cx="5143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0975"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Z-score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AB090A5-9E97-45C7-B808-1E0B2B02F32C}"/>
              </a:ext>
            </a:extLst>
          </p:cNvPr>
          <p:cNvSpPr>
            <a:spLocks noGrp="1"/>
          </p:cNvSpPr>
          <p:nvPr/>
        </p:nvSpPr>
        <p:spPr>
          <a:xfrm>
            <a:off x="7962900" y="5753100"/>
            <a:ext cx="29527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8B95B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E329D91-5F7E-4121-83EC-47A1BFCFB9B2}"/>
              </a:ext>
            </a:extLst>
          </p:cNvPr>
          <p:cNvSpPr>
            <a:spLocks noGrp="1"/>
          </p:cNvSpPr>
          <p:nvPr/>
        </p:nvSpPr>
        <p:spPr>
          <a:xfrm>
            <a:off x="8001000" y="5772150"/>
            <a:ext cx="2876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SCHEMATIC • NOT DATASET RESULTS</a:t>
            </a:r>
          </a:p>
        </p:txBody>
      </p:sp>
    </p:spTree>
    <p:extLst>
      <p:ext uri="{BB962C8B-B14F-4D97-AF65-F5344CB8AC3E}">
        <p14:creationId xmlns:p14="http://schemas.microsoft.com/office/powerpoint/2010/main" val="88420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A0D33399-3CF8-442C-AE74-D61F71981EAA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Graph intelligence reveals risk hubs and suspicious clusters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79D52F-9F23-4EC7-8BDB-33787DAC2608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114E9-69D2-4D22-9D80-64BF0EB376AF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27588A-C8DB-47E2-B552-2E6DCC3ABAB5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A6430-6BF8-40EF-9B64-58F1292F2B36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CCDB1B-54EB-4127-AA82-D60813D3EDBE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7334250" cy="4514850"/>
          </a:xfrm>
          <a:prstGeom prst="roundRect">
            <a:avLst>
              <a:gd name="adj" fmla="val 3376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870584-BAC1-4517-A7FE-A98AEA3983D7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SUCCESSFUL TRANSACTION FLOW GRAPH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274AB8B-C766-4156-B518-BBE1A85BFEAD}"/>
              </a:ext>
            </a:extLst>
          </p:cNvPr>
          <p:cNvSpPr>
            <a:spLocks noGrp="1"/>
          </p:cNvSpPr>
          <p:nvPr/>
        </p:nvSpPr>
        <p:spPr>
          <a:xfrm flipV="1">
            <a:off x="1619250" y="1885950"/>
            <a:ext cx="1047750" cy="447675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6AC108F-9FDD-4049-8F15-EC6B498ADD89}"/>
              </a:ext>
            </a:extLst>
          </p:cNvPr>
          <p:cNvSpPr>
            <a:spLocks noGrp="1"/>
          </p:cNvSpPr>
          <p:nvPr/>
        </p:nvSpPr>
        <p:spPr>
          <a:xfrm>
            <a:off x="2667000" y="1885950"/>
            <a:ext cx="1000125" cy="68580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D56DE6B5-C16E-40A1-8DCB-F5A867767FDD}"/>
              </a:ext>
            </a:extLst>
          </p:cNvPr>
          <p:cNvSpPr>
            <a:spLocks noGrp="1"/>
          </p:cNvSpPr>
          <p:nvPr/>
        </p:nvSpPr>
        <p:spPr>
          <a:xfrm flipV="1">
            <a:off x="3667125" y="2000250"/>
            <a:ext cx="1190625" cy="57150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438D297-9F57-4EF5-8850-F6D686CD047C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1333500" cy="66675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657216C-4AF8-441A-9EEF-B2350B1EC5FB}"/>
              </a:ext>
            </a:extLst>
          </p:cNvPr>
          <p:cNvSpPr>
            <a:spLocks noGrp="1"/>
          </p:cNvSpPr>
          <p:nvPr/>
        </p:nvSpPr>
        <p:spPr>
          <a:xfrm>
            <a:off x="1619250" y="2333625"/>
            <a:ext cx="619125" cy="1381125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37B0695-E86A-478D-8CAC-990AB02A4229}"/>
              </a:ext>
            </a:extLst>
          </p:cNvPr>
          <p:cNvSpPr>
            <a:spLocks noGrp="1"/>
          </p:cNvSpPr>
          <p:nvPr/>
        </p:nvSpPr>
        <p:spPr>
          <a:xfrm>
            <a:off x="2238375" y="3714750"/>
            <a:ext cx="1238250" cy="38100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868445D-1AE2-407F-A631-1C051B9CF630}"/>
              </a:ext>
            </a:extLst>
          </p:cNvPr>
          <p:cNvSpPr>
            <a:spLocks noGrp="1"/>
          </p:cNvSpPr>
          <p:nvPr/>
        </p:nvSpPr>
        <p:spPr>
          <a:xfrm flipV="1">
            <a:off x="3476625" y="3714750"/>
            <a:ext cx="1428750" cy="38100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07288BF-B2A1-47AB-B229-8E1182DDF0D3}"/>
              </a:ext>
            </a:extLst>
          </p:cNvPr>
          <p:cNvSpPr>
            <a:spLocks noGrp="1"/>
          </p:cNvSpPr>
          <p:nvPr/>
        </p:nvSpPr>
        <p:spPr>
          <a:xfrm flipV="1">
            <a:off x="4905375" y="2667000"/>
            <a:ext cx="1285875" cy="1047750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F22B98F-FF87-47AD-968A-471B1B03FAEA}"/>
              </a:ext>
            </a:extLst>
          </p:cNvPr>
          <p:cNvSpPr>
            <a:spLocks noGrp="1"/>
          </p:cNvSpPr>
          <p:nvPr/>
        </p:nvSpPr>
        <p:spPr>
          <a:xfrm>
            <a:off x="4905375" y="3714750"/>
            <a:ext cx="1666875" cy="47625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A6AC73B2-103B-4E7A-ABD7-8DC013811C97}"/>
              </a:ext>
            </a:extLst>
          </p:cNvPr>
          <p:cNvSpPr>
            <a:spLocks noGrp="1"/>
          </p:cNvSpPr>
          <p:nvPr/>
        </p:nvSpPr>
        <p:spPr>
          <a:xfrm flipH="1">
            <a:off x="1238250" y="3714750"/>
            <a:ext cx="1000125" cy="104775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90B2A16-5748-4405-9EF0-4E41EB51F804}"/>
              </a:ext>
            </a:extLst>
          </p:cNvPr>
          <p:cNvSpPr>
            <a:spLocks noGrp="1"/>
          </p:cNvSpPr>
          <p:nvPr/>
        </p:nvSpPr>
        <p:spPr>
          <a:xfrm>
            <a:off x="3476625" y="4095750"/>
            <a:ext cx="1857375" cy="85725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CF04E2AF-828D-4D31-A426-867881878DE0}"/>
              </a:ext>
            </a:extLst>
          </p:cNvPr>
          <p:cNvSpPr>
            <a:spLocks noGrp="1"/>
          </p:cNvSpPr>
          <p:nvPr/>
        </p:nvSpPr>
        <p:spPr>
          <a:xfrm flipV="1">
            <a:off x="5334000" y="4191000"/>
            <a:ext cx="1238250" cy="76200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292D1248-19A1-4A07-B1A2-A4E448ABD39C}"/>
              </a:ext>
            </a:extLst>
          </p:cNvPr>
          <p:cNvSpPr>
            <a:spLocks noGrp="1"/>
          </p:cNvSpPr>
          <p:nvPr/>
        </p:nvSpPr>
        <p:spPr>
          <a:xfrm>
            <a:off x="3667125" y="2571750"/>
            <a:ext cx="1238250" cy="114300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B089BD2-9B9C-4F47-8485-7B9E5A078530}"/>
              </a:ext>
            </a:extLst>
          </p:cNvPr>
          <p:cNvSpPr>
            <a:spLocks noGrp="1"/>
          </p:cNvSpPr>
          <p:nvPr/>
        </p:nvSpPr>
        <p:spPr>
          <a:xfrm>
            <a:off x="6191250" y="2667000"/>
            <a:ext cx="381000" cy="1524000"/>
          </a:xfrm>
          <a:prstGeom prst="line">
            <a:avLst/>
          </a:prstGeom>
          <a:noFill/>
          <a:ln w="19050">
            <a:solidFill>
              <a:srgbClr val="8B95B0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3AFA19F-03C6-4BA8-86F2-D916D3DFB4F9}"/>
              </a:ext>
            </a:extLst>
          </p:cNvPr>
          <p:cNvSpPr>
            <a:spLocks noGrp="1"/>
          </p:cNvSpPr>
          <p:nvPr/>
        </p:nvSpPr>
        <p:spPr>
          <a:xfrm>
            <a:off x="1485900" y="2200275"/>
            <a:ext cx="266700" cy="26670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D9919A-F53E-44F1-BDCE-FBA805A61008}"/>
              </a:ext>
            </a:extLst>
          </p:cNvPr>
          <p:cNvSpPr>
            <a:spLocks noGrp="1"/>
          </p:cNvSpPr>
          <p:nvPr/>
        </p:nvSpPr>
        <p:spPr>
          <a:xfrm>
            <a:off x="2533650" y="1752600"/>
            <a:ext cx="266700" cy="26670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C65C76-8822-49BD-880F-7C5100636FBB}"/>
              </a:ext>
            </a:extLst>
          </p:cNvPr>
          <p:cNvSpPr>
            <a:spLocks noGrp="1"/>
          </p:cNvSpPr>
          <p:nvPr/>
        </p:nvSpPr>
        <p:spPr>
          <a:xfrm>
            <a:off x="3495675" y="2400300"/>
            <a:ext cx="342900" cy="34290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BC0682E-249D-4AA2-9CED-B14303B2E140}"/>
              </a:ext>
            </a:extLst>
          </p:cNvPr>
          <p:cNvSpPr>
            <a:spLocks noGrp="1"/>
          </p:cNvSpPr>
          <p:nvPr/>
        </p:nvSpPr>
        <p:spPr>
          <a:xfrm>
            <a:off x="4648200" y="1790700"/>
            <a:ext cx="419100" cy="4191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7106ED-01B4-4C3B-B588-58614264E72C}"/>
              </a:ext>
            </a:extLst>
          </p:cNvPr>
          <p:cNvSpPr>
            <a:spLocks noGrp="1"/>
          </p:cNvSpPr>
          <p:nvPr/>
        </p:nvSpPr>
        <p:spPr>
          <a:xfrm>
            <a:off x="4743450" y="191452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709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090E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A3B3430-2234-4426-80C7-28FB9CE816C7}"/>
              </a:ext>
            </a:extLst>
          </p:cNvPr>
          <p:cNvSpPr>
            <a:spLocks noGrp="1"/>
          </p:cNvSpPr>
          <p:nvPr/>
        </p:nvSpPr>
        <p:spPr>
          <a:xfrm>
            <a:off x="5924550" y="2400300"/>
            <a:ext cx="533400" cy="53340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E96945-03CA-4A2B-B927-BD71E4A9CFF0}"/>
              </a:ext>
            </a:extLst>
          </p:cNvPr>
          <p:cNvSpPr>
            <a:spLocks noGrp="1"/>
          </p:cNvSpPr>
          <p:nvPr/>
        </p:nvSpPr>
        <p:spPr>
          <a:xfrm>
            <a:off x="6076950" y="258127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709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090E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F77D528-8F58-48F8-BE1C-50B38210F59D}"/>
              </a:ext>
            </a:extLst>
          </p:cNvPr>
          <p:cNvSpPr>
            <a:spLocks noGrp="1"/>
          </p:cNvSpPr>
          <p:nvPr/>
        </p:nvSpPr>
        <p:spPr>
          <a:xfrm>
            <a:off x="2105025" y="3581400"/>
            <a:ext cx="266700" cy="26670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7D6C12C-5249-4FA1-A453-5D87E5BC95B5}"/>
              </a:ext>
            </a:extLst>
          </p:cNvPr>
          <p:cNvSpPr>
            <a:spLocks noGrp="1"/>
          </p:cNvSpPr>
          <p:nvPr/>
        </p:nvSpPr>
        <p:spPr>
          <a:xfrm>
            <a:off x="3343275" y="3962400"/>
            <a:ext cx="266700" cy="26670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E41F68-9D61-4A80-8434-C6BB70C690AA}"/>
              </a:ext>
            </a:extLst>
          </p:cNvPr>
          <p:cNvSpPr>
            <a:spLocks noGrp="1"/>
          </p:cNvSpPr>
          <p:nvPr/>
        </p:nvSpPr>
        <p:spPr>
          <a:xfrm>
            <a:off x="4714875" y="3524250"/>
            <a:ext cx="381000" cy="3810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7B0C8D-049F-4FB9-8492-0889010B7FA2}"/>
              </a:ext>
            </a:extLst>
          </p:cNvPr>
          <p:cNvSpPr>
            <a:spLocks noGrp="1"/>
          </p:cNvSpPr>
          <p:nvPr/>
        </p:nvSpPr>
        <p:spPr>
          <a:xfrm>
            <a:off x="4791075" y="3629025"/>
            <a:ext cx="2286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7090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090E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91AE91A-5FE7-4AF6-8BD6-943703344908}"/>
              </a:ext>
            </a:extLst>
          </p:cNvPr>
          <p:cNvSpPr>
            <a:spLocks noGrp="1"/>
          </p:cNvSpPr>
          <p:nvPr/>
        </p:nvSpPr>
        <p:spPr>
          <a:xfrm>
            <a:off x="6400800" y="4019550"/>
            <a:ext cx="342900" cy="3429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9A84227-EE5A-4021-99A3-99F100071C88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6700" cy="26670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2CE079-021E-41A9-A16C-8B28E63A86A6}"/>
              </a:ext>
            </a:extLst>
          </p:cNvPr>
          <p:cNvSpPr>
            <a:spLocks noGrp="1"/>
          </p:cNvSpPr>
          <p:nvPr/>
        </p:nvSpPr>
        <p:spPr>
          <a:xfrm>
            <a:off x="5200650" y="4819650"/>
            <a:ext cx="266700" cy="26670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85EF76-5590-49ED-BD3D-115BA68B8082}"/>
              </a:ext>
            </a:extLst>
          </p:cNvPr>
          <p:cNvSpPr>
            <a:spLocks noGrp="1"/>
          </p:cNvSpPr>
          <p:nvPr/>
        </p:nvSpPr>
        <p:spPr>
          <a:xfrm>
            <a:off x="723900" y="54483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l">
              <a:lnSpc>
                <a:spcPct val="100000"/>
              </a:lnSpc>
              <a:buNone/>
              <a:defRPr sz="975" b="0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B95B0"/>
                </a:solidFill>
                <a:latin typeface="Arial"/>
                <a:ea typeface="Arial"/>
                <a:cs typeface="Arial"/>
              </a:rPr>
              <a:t>Edge width represents transaction amount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41CDD6-B2F9-4D78-BC0C-610B5D47AF33}"/>
              </a:ext>
            </a:extLst>
          </p:cNvPr>
          <p:cNvSpPr>
            <a:spLocks noGrp="1"/>
          </p:cNvSpPr>
          <p:nvPr/>
        </p:nvSpPr>
        <p:spPr>
          <a:xfrm>
            <a:off x="8143875" y="1438275"/>
            <a:ext cx="171450" cy="171450"/>
          </a:xfrm>
          <a:prstGeom prst="ellipse">
            <a:avLst/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0FDFA1-2057-4143-A124-E705B81AA7D3}"/>
              </a:ext>
            </a:extLst>
          </p:cNvPr>
          <p:cNvSpPr>
            <a:spLocks noGrp="1"/>
          </p:cNvSpPr>
          <p:nvPr/>
        </p:nvSpPr>
        <p:spPr>
          <a:xfrm>
            <a:off x="8439150" y="139065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Standard user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594C23F-ED8A-4722-A398-199FC0ACE76F}"/>
              </a:ext>
            </a:extLst>
          </p:cNvPr>
          <p:cNvSpPr>
            <a:spLocks noGrp="1"/>
          </p:cNvSpPr>
          <p:nvPr/>
        </p:nvSpPr>
        <p:spPr>
          <a:xfrm>
            <a:off x="8143875" y="1847850"/>
            <a:ext cx="171450" cy="17145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BDAB79E-2CF2-47EA-B749-8E4AE047D277}"/>
              </a:ext>
            </a:extLst>
          </p:cNvPr>
          <p:cNvSpPr>
            <a:spLocks noGrp="1"/>
          </p:cNvSpPr>
          <p:nvPr/>
        </p:nvSpPr>
        <p:spPr>
          <a:xfrm>
            <a:off x="8439150" y="1800225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Disputed user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E48DE4-8AD3-4A1D-A7DF-5C66D6E499F5}"/>
              </a:ext>
            </a:extLst>
          </p:cNvPr>
          <p:cNvSpPr>
            <a:spLocks noGrp="1"/>
          </p:cNvSpPr>
          <p:nvPr/>
        </p:nvSpPr>
        <p:spPr>
          <a:xfrm>
            <a:off x="8143875" y="2257425"/>
            <a:ext cx="171450" cy="17145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1FEAA9B-59ED-4271-9804-788926E6B0B4}"/>
              </a:ext>
            </a:extLst>
          </p:cNvPr>
          <p:cNvSpPr>
            <a:spLocks noGrp="1"/>
          </p:cNvSpPr>
          <p:nvPr/>
        </p:nvSpPr>
        <p:spPr>
          <a:xfrm>
            <a:off x="8439150" y="22098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Merchant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2967F82-83AA-481A-A333-D3D7CACDDBC6}"/>
              </a:ext>
            </a:extLst>
          </p:cNvPr>
          <p:cNvSpPr>
            <a:spLocks noGrp="1"/>
          </p:cNvSpPr>
          <p:nvPr/>
        </p:nvSpPr>
        <p:spPr>
          <a:xfrm>
            <a:off x="8143875" y="2667000"/>
            <a:ext cx="171450" cy="171450"/>
          </a:xfrm>
          <a:prstGeom prst="ellipse">
            <a:avLst/>
          </a:prstGeom>
          <a:solidFill>
            <a:srgbClr val="F43F5E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FD0A989-8655-43F9-B7EB-0981125717F1}"/>
              </a:ext>
            </a:extLst>
          </p:cNvPr>
          <p:cNvSpPr>
            <a:spLocks noGrp="1"/>
          </p:cNvSpPr>
          <p:nvPr/>
        </p:nvSpPr>
        <p:spPr>
          <a:xfrm>
            <a:off x="8439150" y="2619375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Disputed merchant (large)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A66CD2-3D7F-402C-8EDF-AE3C7CCB54A6}"/>
              </a:ext>
            </a:extLst>
          </p:cNvPr>
          <p:cNvSpPr>
            <a:spLocks noGrp="1"/>
          </p:cNvSpPr>
          <p:nvPr/>
        </p:nvSpPr>
        <p:spPr>
          <a:xfrm>
            <a:off x="8143875" y="3362325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ANALYTICAL SIGNALS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B39CE01-6218-4D27-A545-A8B5AF6951ED}"/>
              </a:ext>
            </a:extLst>
          </p:cNvPr>
          <p:cNvSpPr>
            <a:spLocks noGrp="1"/>
          </p:cNvSpPr>
          <p:nvPr/>
        </p:nvSpPr>
        <p:spPr>
          <a:xfrm>
            <a:off x="8096250" y="3638550"/>
            <a:ext cx="33337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 fontScale="87053"/>
          </a:bodyPr>
          <a:lstStyle/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Degree centrality identifies high-connectivity hubs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Connected components reveal suspicious clusters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Deterministic spring layout supports reproducible views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34B53717-8EF0-4612-8482-01A137043BA0}"/>
              </a:ext>
            </a:extLst>
          </p:cNvPr>
          <p:cNvSpPr>
            <a:spLocks noGrp="1"/>
          </p:cNvSpPr>
          <p:nvPr/>
        </p:nvSpPr>
        <p:spPr>
          <a:xfrm>
            <a:off x="8096250" y="5048250"/>
            <a:ext cx="3333750" cy="723900"/>
          </a:xfrm>
          <a:prstGeom prst="roundRect">
            <a:avLst>
              <a:gd name="adj" fmla="val 15789"/>
            </a:avLst>
          </a:prstGeom>
          <a:solidFill>
            <a:srgbClr val="151929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C7EF342-5974-4AF2-95E8-D100395B47EC}"/>
              </a:ext>
            </a:extLst>
          </p:cNvPr>
          <p:cNvSpPr>
            <a:spLocks noGrp="1"/>
          </p:cNvSpPr>
          <p:nvPr/>
        </p:nvSpPr>
        <p:spPr>
          <a:xfrm>
            <a:off x="8305800" y="5191125"/>
            <a:ext cx="2914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3153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The graph supports investigation. It does not declare an entity fraudulent.</a:t>
            </a:r>
          </a:p>
        </p:txBody>
      </p:sp>
    </p:spTree>
    <p:extLst>
      <p:ext uri="{BB962C8B-B14F-4D97-AF65-F5344CB8AC3E}">
        <p14:creationId xmlns:p14="http://schemas.microsoft.com/office/powerpoint/2010/main" val="1511287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4BD46D9-5899-4F01-80DB-7B06443D4F6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KYC context supports privacy-aware identity-risk review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0708A6-DC37-4519-97F1-4DBADA3C5570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5A32B7-E297-4A8A-8FAB-BB685F86F21C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4D2437-7BF4-4833-A69F-42BDEC79AD89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6B4FEF-95B9-4C65-B49A-2DAC8DC6F562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E8B533-1E62-46BA-9731-C1243492A140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4095750" cy="26289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/>
          </a:bodyPr>
          <a:lstStyle/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Compare transaction volume across KYC statuses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Cross-tabulate KYC status and customer risk segment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Measure reported dispute exposure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Identify repeatedly disputed customer IDs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Exclude sensitive identity fields from AI outputs</a:t>
            </a:r>
          </a:p>
          <a:p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EEF0F8"/>
                </a:solidFill>
                <a:latin typeface="Arial"/>
                <a:ea typeface="Arial"/>
                <a:cs typeface="Arial"/>
              </a:rPr>
              <a:t>Treat Aadhaar checks as format validation only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246054-BD30-4D01-86FA-4D21C6F9C0E8}"/>
              </a:ext>
            </a:extLst>
          </p:cNvPr>
          <p:cNvSpPr>
            <a:spLocks noGrp="1"/>
          </p:cNvSpPr>
          <p:nvPr/>
        </p:nvSpPr>
        <p:spPr>
          <a:xfrm>
            <a:off x="514350" y="4143375"/>
            <a:ext cx="4095750" cy="1352550"/>
          </a:xfrm>
          <a:prstGeom prst="roundRect">
            <a:avLst>
              <a:gd name="adj" fmla="val 9859"/>
            </a:avLst>
          </a:prstGeom>
          <a:solidFill>
            <a:srgbClr val="151929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742E69-F32E-401A-A392-69519883871E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3676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PRIVACY BOUNDARY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DA2FD-4A71-4310-B057-6EE1B32D8908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36385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6491"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Analytical narratives use risk context while keeping sensitive identity fields outside prompt content.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E589DD-0D11-4ABF-9AF9-67E979F598FD}"/>
              </a:ext>
            </a:extLst>
          </p:cNvPr>
          <p:cNvSpPr>
            <a:spLocks noGrp="1"/>
          </p:cNvSpPr>
          <p:nvPr/>
        </p:nvSpPr>
        <p:spPr>
          <a:xfrm>
            <a:off x="4953000" y="1257300"/>
            <a:ext cx="6705600" cy="1276350"/>
          </a:xfrm>
          <a:prstGeom prst="roundRect">
            <a:avLst>
              <a:gd name="adj" fmla="val 8955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5725EE-BF8A-4D5D-8F74-B7F807D27386}"/>
              </a:ext>
            </a:extLst>
          </p:cNvPr>
          <p:cNvSpPr>
            <a:spLocks noGrp="1"/>
          </p:cNvSpPr>
          <p:nvPr/>
        </p:nvSpPr>
        <p:spPr>
          <a:xfrm>
            <a:off x="5124450" y="1343025"/>
            <a:ext cx="6362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Transaction volume by KYC status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C77192-B98D-48C0-B6EA-2EEDB69C894C}"/>
              </a:ext>
            </a:extLst>
          </p:cNvPr>
          <p:cNvSpPr>
            <a:spLocks noGrp="1"/>
          </p:cNvSpPr>
          <p:nvPr/>
        </p:nvSpPr>
        <p:spPr>
          <a:xfrm>
            <a:off x="4953000" y="2724150"/>
            <a:ext cx="6705600" cy="1276350"/>
          </a:xfrm>
          <a:prstGeom prst="roundRect">
            <a:avLst>
              <a:gd name="adj" fmla="val 8955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4D0CBD-0DD4-446C-9532-F0D5512FD7D8}"/>
              </a:ext>
            </a:extLst>
          </p:cNvPr>
          <p:cNvSpPr>
            <a:spLocks noGrp="1"/>
          </p:cNvSpPr>
          <p:nvPr/>
        </p:nvSpPr>
        <p:spPr>
          <a:xfrm>
            <a:off x="5075670" y="2752725"/>
            <a:ext cx="6362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Dispute ratio by KYC status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8F26C0-0ECD-455E-B051-4FAD38BDA17C}"/>
              </a:ext>
            </a:extLst>
          </p:cNvPr>
          <p:cNvSpPr>
            <a:spLocks noGrp="1"/>
          </p:cNvSpPr>
          <p:nvPr/>
        </p:nvSpPr>
        <p:spPr>
          <a:xfrm>
            <a:off x="4953000" y="4191000"/>
            <a:ext cx="6705600" cy="1304925"/>
          </a:xfrm>
          <a:prstGeom prst="roundRect">
            <a:avLst>
              <a:gd name="adj" fmla="val 8759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C8DE30-5A42-46FC-9089-654E3F5C16B9}"/>
              </a:ext>
            </a:extLst>
          </p:cNvPr>
          <p:cNvSpPr>
            <a:spLocks noGrp="1"/>
          </p:cNvSpPr>
          <p:nvPr/>
        </p:nvSpPr>
        <p:spPr>
          <a:xfrm>
            <a:off x="5124450" y="4257675"/>
            <a:ext cx="6362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Repeatedly disputed customer table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E6CECAF-4D1D-43C2-8EE1-FAFA9CC4DF16}"/>
              </a:ext>
            </a:extLst>
          </p:cNvPr>
          <p:cNvSpPr>
            <a:spLocks noGrp="1"/>
          </p:cNvSpPr>
          <p:nvPr/>
        </p:nvSpPr>
        <p:spPr>
          <a:xfrm>
            <a:off x="514350" y="5791200"/>
            <a:ext cx="11144250" cy="400050"/>
          </a:xfrm>
          <a:prstGeom prst="roundRect">
            <a:avLst>
              <a:gd name="adj" fmla="val 23810"/>
            </a:avLst>
          </a:prstGeom>
          <a:solidFill>
            <a:srgbClr val="1014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49CBF5-36B7-4E7D-B777-152F8A748500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10801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Aadhaar validation checks format consistency; it does not verify a person’s identity.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4B7A251-E2A2-FF8C-B958-AE23625F7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451" y="1633538"/>
            <a:ext cx="6236276" cy="79533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B1E80CC-FAD7-8233-1B81-82C2687DA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836" y="3028373"/>
            <a:ext cx="6169891" cy="75305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DE481D4-0C47-982E-CF82-0CB7DC09A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0835" y="4648201"/>
            <a:ext cx="6169891" cy="7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0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CDA8E8E4-C493-498A-9060-A2A28E0760E6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AI Strategist enforces a transparent, read-only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D3F91C-E302-4218-8FFE-BD6CEA89A084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F65AF7-DAE6-4096-B16F-466693750DF5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E3342-ACE5-45BA-A0A5-4E3665CCAD1A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C43CB0-6FCB-4456-95DA-5C035B39E114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38DB5A-B518-42EB-A45F-357BF86C91A5}"/>
              </a:ext>
            </a:extLst>
          </p:cNvPr>
          <p:cNvSpPr>
            <a:spLocks noGrp="1"/>
          </p:cNvSpPr>
          <p:nvPr/>
        </p:nvSpPr>
        <p:spPr>
          <a:xfrm>
            <a:off x="51435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432430-8DD6-4837-AF32-B7AABB3EB30B}"/>
              </a:ext>
            </a:extLst>
          </p:cNvPr>
          <p:cNvSpPr>
            <a:spLocks noGrp="1"/>
          </p:cNvSpPr>
          <p:nvPr/>
        </p:nvSpPr>
        <p:spPr>
          <a:xfrm>
            <a:off x="59055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C0F23-B52C-4980-AEDA-0127483A027C}"/>
              </a:ext>
            </a:extLst>
          </p:cNvPr>
          <p:cNvSpPr>
            <a:spLocks noGrp="1"/>
          </p:cNvSpPr>
          <p:nvPr/>
        </p:nvSpPr>
        <p:spPr>
          <a:xfrm>
            <a:off x="80010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987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12 presets / 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9D42CD-97E9-4E91-B81D-A3462031248C}"/>
              </a:ext>
            </a:extLst>
          </p:cNvPr>
          <p:cNvSpPr>
            <a:spLocks noGrp="1"/>
          </p:cNvSpPr>
          <p:nvPr/>
        </p:nvSpPr>
        <p:spPr>
          <a:xfrm>
            <a:off x="1524000" y="13430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69DC6DD-9A38-441D-8F50-9E5181940C1A}"/>
              </a:ext>
            </a:extLst>
          </p:cNvPr>
          <p:cNvSpPr>
            <a:spLocks noGrp="1"/>
          </p:cNvSpPr>
          <p:nvPr/>
        </p:nvSpPr>
        <p:spPr>
          <a:xfrm>
            <a:off x="175260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FD96CE-A99B-4203-92C3-5E2ECA74DFF0}"/>
              </a:ext>
            </a:extLst>
          </p:cNvPr>
          <p:cNvSpPr>
            <a:spLocks noGrp="1"/>
          </p:cNvSpPr>
          <p:nvPr/>
        </p:nvSpPr>
        <p:spPr>
          <a:xfrm>
            <a:off x="182880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2EED7-BE21-4062-9E56-BE3AEC4C3A41}"/>
              </a:ext>
            </a:extLst>
          </p:cNvPr>
          <p:cNvSpPr>
            <a:spLocks noGrp="1"/>
          </p:cNvSpPr>
          <p:nvPr/>
        </p:nvSpPr>
        <p:spPr>
          <a:xfrm>
            <a:off x="203835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Local domain gate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B73689-9A77-4F46-882C-AD768299BE52}"/>
              </a:ext>
            </a:extLst>
          </p:cNvPr>
          <p:cNvSpPr>
            <a:spLocks noGrp="1"/>
          </p:cNvSpPr>
          <p:nvPr/>
        </p:nvSpPr>
        <p:spPr>
          <a:xfrm>
            <a:off x="2762250" y="13430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9165CE-2984-4FD5-9500-64FD89BCD3FB}"/>
              </a:ext>
            </a:extLst>
          </p:cNvPr>
          <p:cNvSpPr>
            <a:spLocks noGrp="1"/>
          </p:cNvSpPr>
          <p:nvPr/>
        </p:nvSpPr>
        <p:spPr>
          <a:xfrm>
            <a:off x="299085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7BB7D4-C9FF-4FF8-B5F1-2A822758BA66}"/>
              </a:ext>
            </a:extLst>
          </p:cNvPr>
          <p:cNvSpPr>
            <a:spLocks noGrp="1"/>
          </p:cNvSpPr>
          <p:nvPr/>
        </p:nvSpPr>
        <p:spPr>
          <a:xfrm>
            <a:off x="306705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730E80-180A-48B9-88B0-7608C0F944A9}"/>
              </a:ext>
            </a:extLst>
          </p:cNvPr>
          <p:cNvSpPr>
            <a:spLocks noGrp="1"/>
          </p:cNvSpPr>
          <p:nvPr/>
        </p:nvSpPr>
        <p:spPr>
          <a:xfrm>
            <a:off x="327660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Local overview answer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ABB7DA-898E-4777-AC2C-6F3BF0F0D564}"/>
              </a:ext>
            </a:extLst>
          </p:cNvPr>
          <p:cNvSpPr>
            <a:spLocks noGrp="1"/>
          </p:cNvSpPr>
          <p:nvPr/>
        </p:nvSpPr>
        <p:spPr>
          <a:xfrm>
            <a:off x="4000500" y="13430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350EF7-A385-4E29-BB14-B9172CA1E5B5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1EE970-5672-4CA9-AE2A-26ABE6B154C4}"/>
              </a:ext>
            </a:extLst>
          </p:cNvPr>
          <p:cNvSpPr>
            <a:spLocks noGrp="1"/>
          </p:cNvSpPr>
          <p:nvPr/>
        </p:nvSpPr>
        <p:spPr>
          <a:xfrm>
            <a:off x="430530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E81031-ACB3-4AA9-9058-D63427E9A66E}"/>
              </a:ext>
            </a:extLst>
          </p:cNvPr>
          <p:cNvSpPr>
            <a:spLocks noGrp="1"/>
          </p:cNvSpPr>
          <p:nvPr/>
        </p:nvSpPr>
        <p:spPr>
          <a:xfrm>
            <a:off x="451485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4371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Groq SQL generation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611888-DD5E-4391-A66E-C829422C1887}"/>
              </a:ext>
            </a:extLst>
          </p:cNvPr>
          <p:cNvSpPr>
            <a:spLocks noGrp="1"/>
          </p:cNvSpPr>
          <p:nvPr/>
        </p:nvSpPr>
        <p:spPr>
          <a:xfrm>
            <a:off x="5238750" y="13430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B4782EF-9262-4AF7-B940-AE46037B1BAC}"/>
              </a:ext>
            </a:extLst>
          </p:cNvPr>
          <p:cNvSpPr>
            <a:spLocks noGrp="1"/>
          </p:cNvSpPr>
          <p:nvPr/>
        </p:nvSpPr>
        <p:spPr>
          <a:xfrm>
            <a:off x="546735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911C03-F6B4-4A82-A98D-0FA16834750E}"/>
              </a:ext>
            </a:extLst>
          </p:cNvPr>
          <p:cNvSpPr>
            <a:spLocks noGrp="1"/>
          </p:cNvSpPr>
          <p:nvPr/>
        </p:nvSpPr>
        <p:spPr>
          <a:xfrm>
            <a:off x="554355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EBB06A-BFFF-4811-AF54-1D61AA6DFED1}"/>
              </a:ext>
            </a:extLst>
          </p:cNvPr>
          <p:cNvSpPr>
            <a:spLocks noGrp="1"/>
          </p:cNvSpPr>
          <p:nvPr/>
        </p:nvSpPr>
        <p:spPr>
          <a:xfrm>
            <a:off x="575310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SQLGlot + DuckDB validation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55A69C-4410-4193-9594-6BF62ECE2827}"/>
              </a:ext>
            </a:extLst>
          </p:cNvPr>
          <p:cNvSpPr>
            <a:spLocks noGrp="1"/>
          </p:cNvSpPr>
          <p:nvPr/>
        </p:nvSpPr>
        <p:spPr>
          <a:xfrm>
            <a:off x="6477000" y="13430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09B8BDB-5A91-48CE-9FCE-50267B7089DE}"/>
              </a:ext>
            </a:extLst>
          </p:cNvPr>
          <p:cNvSpPr>
            <a:spLocks noGrp="1"/>
          </p:cNvSpPr>
          <p:nvPr/>
        </p:nvSpPr>
        <p:spPr>
          <a:xfrm>
            <a:off x="670560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D6E8E5-B235-42D2-8848-473BEE695C4A}"/>
              </a:ext>
            </a:extLst>
          </p:cNvPr>
          <p:cNvSpPr>
            <a:spLocks noGrp="1"/>
          </p:cNvSpPr>
          <p:nvPr/>
        </p:nvSpPr>
        <p:spPr>
          <a:xfrm>
            <a:off x="678180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5D88D0-6455-4522-93A3-54DAE47ACD94}"/>
              </a:ext>
            </a:extLst>
          </p:cNvPr>
          <p:cNvSpPr>
            <a:spLocks noGrp="1"/>
          </p:cNvSpPr>
          <p:nvPr/>
        </p:nvSpPr>
        <p:spPr>
          <a:xfrm>
            <a:off x="699135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Approved in-memory data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70320C-4F6D-44F5-841A-AE9EA25AC883}"/>
              </a:ext>
            </a:extLst>
          </p:cNvPr>
          <p:cNvSpPr>
            <a:spLocks noGrp="1"/>
          </p:cNvSpPr>
          <p:nvPr/>
        </p:nvSpPr>
        <p:spPr>
          <a:xfrm>
            <a:off x="7715250" y="13430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DC9B37C-0524-4985-9D90-EBEBDC249C40}"/>
              </a:ext>
            </a:extLst>
          </p:cNvPr>
          <p:cNvSpPr>
            <a:spLocks noGrp="1"/>
          </p:cNvSpPr>
          <p:nvPr/>
        </p:nvSpPr>
        <p:spPr>
          <a:xfrm>
            <a:off x="794385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76D06E-0941-45FF-AED1-303EECAAA6F2}"/>
              </a:ext>
            </a:extLst>
          </p:cNvPr>
          <p:cNvSpPr>
            <a:spLocks noGrp="1"/>
          </p:cNvSpPr>
          <p:nvPr/>
        </p:nvSpPr>
        <p:spPr>
          <a:xfrm>
            <a:off x="802005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2FACF98-A7CE-4D62-944F-D8A3129DE48E}"/>
              </a:ext>
            </a:extLst>
          </p:cNvPr>
          <p:cNvSpPr>
            <a:spLocks noGrp="1"/>
          </p:cNvSpPr>
          <p:nvPr/>
        </p:nvSpPr>
        <p:spPr>
          <a:xfrm>
            <a:off x="822960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Chart selection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D6EB1D-FA28-44FF-B9E3-271AF88D2271}"/>
              </a:ext>
            </a:extLst>
          </p:cNvPr>
          <p:cNvSpPr>
            <a:spLocks noGrp="1"/>
          </p:cNvSpPr>
          <p:nvPr/>
        </p:nvSpPr>
        <p:spPr>
          <a:xfrm>
            <a:off x="8953500" y="13430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4889D9F-0E75-4639-B059-94EB00BD1D7D}"/>
              </a:ext>
            </a:extLst>
          </p:cNvPr>
          <p:cNvSpPr>
            <a:spLocks noGrp="1"/>
          </p:cNvSpPr>
          <p:nvPr/>
        </p:nvSpPr>
        <p:spPr>
          <a:xfrm>
            <a:off x="918210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15148D-EC7F-4DB1-8B11-64F90D801C63}"/>
              </a:ext>
            </a:extLst>
          </p:cNvPr>
          <p:cNvSpPr>
            <a:spLocks noGrp="1"/>
          </p:cNvSpPr>
          <p:nvPr/>
        </p:nvSpPr>
        <p:spPr>
          <a:xfrm>
            <a:off x="925830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977CB3-43B5-48EF-B0D0-8DFC8F59FB29}"/>
              </a:ext>
            </a:extLst>
          </p:cNvPr>
          <p:cNvSpPr>
            <a:spLocks noGrp="1"/>
          </p:cNvSpPr>
          <p:nvPr/>
        </p:nvSpPr>
        <p:spPr>
          <a:xfrm>
            <a:off x="946785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Two findings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A60036E-D179-4DAF-AB77-F12AC3E9245B}"/>
              </a:ext>
            </a:extLst>
          </p:cNvPr>
          <p:cNvSpPr>
            <a:spLocks noGrp="1"/>
          </p:cNvSpPr>
          <p:nvPr/>
        </p:nvSpPr>
        <p:spPr>
          <a:xfrm>
            <a:off x="10191750" y="1343025"/>
            <a:ext cx="19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3333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CFAA3FD-2279-42B1-A355-17B60FA184C7}"/>
              </a:ext>
            </a:extLst>
          </p:cNvPr>
          <p:cNvSpPr>
            <a:spLocks noGrp="1"/>
          </p:cNvSpPr>
          <p:nvPr/>
        </p:nvSpPr>
        <p:spPr>
          <a:xfrm>
            <a:off x="10420350" y="1200150"/>
            <a:ext cx="990600" cy="552450"/>
          </a:xfrm>
          <a:prstGeom prst="roundRect">
            <a:avLst>
              <a:gd name="adj" fmla="val 2069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FCE8BF-13BB-4D5D-B0DD-05EBAFE82EE5}"/>
              </a:ext>
            </a:extLst>
          </p:cNvPr>
          <p:cNvSpPr>
            <a:spLocks noGrp="1"/>
          </p:cNvSpPr>
          <p:nvPr/>
        </p:nvSpPr>
        <p:spPr>
          <a:xfrm>
            <a:off x="10496550" y="1285875"/>
            <a:ext cx="209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9744"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19B4C7-7356-45AC-9D31-F3189492B626}"/>
              </a:ext>
            </a:extLst>
          </p:cNvPr>
          <p:cNvSpPr>
            <a:spLocks noGrp="1"/>
          </p:cNvSpPr>
          <p:nvPr/>
        </p:nvSpPr>
        <p:spPr>
          <a:xfrm>
            <a:off x="10706100" y="1276350"/>
            <a:ext cx="628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8629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Executed SQL visible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1B137CA-9556-4DBF-9818-2F67BE9BF5BF}"/>
              </a:ext>
            </a:extLst>
          </p:cNvPr>
          <p:cNvSpPr>
            <a:spLocks noGrp="1"/>
          </p:cNvSpPr>
          <p:nvPr/>
        </p:nvSpPr>
        <p:spPr>
          <a:xfrm>
            <a:off x="514350" y="2124075"/>
            <a:ext cx="4762500" cy="2457450"/>
          </a:xfrm>
          <a:prstGeom prst="roundRect">
            <a:avLst>
              <a:gd name="adj" fmla="val 4651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67EA76-319C-43BA-BD0F-E4882438B106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4419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Chart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31DAF85-DB70-4BFE-93DA-EA7CFC1FDF3A}"/>
              </a:ext>
            </a:extLst>
          </p:cNvPr>
          <p:cNvSpPr>
            <a:spLocks noGrp="1"/>
          </p:cNvSpPr>
          <p:nvPr/>
        </p:nvSpPr>
        <p:spPr>
          <a:xfrm>
            <a:off x="5467350" y="2095500"/>
            <a:ext cx="3429000" cy="2457450"/>
          </a:xfrm>
          <a:prstGeom prst="roundRect">
            <a:avLst>
              <a:gd name="adj" fmla="val 4651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B3F5517-9DFB-4008-BDB6-44A942749A54}"/>
              </a:ext>
            </a:extLst>
          </p:cNvPr>
          <p:cNvSpPr>
            <a:spLocks noGrp="1"/>
          </p:cNvSpPr>
          <p:nvPr/>
        </p:nvSpPr>
        <p:spPr>
          <a:xfrm>
            <a:off x="5581650" y="2152650"/>
            <a:ext cx="3086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Executive Agent Finding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624DFCF-D58F-4886-A913-4083D55339BC}"/>
              </a:ext>
            </a:extLst>
          </p:cNvPr>
          <p:cNvSpPr>
            <a:spLocks noGrp="1"/>
          </p:cNvSpPr>
          <p:nvPr/>
        </p:nvSpPr>
        <p:spPr>
          <a:xfrm>
            <a:off x="9086850" y="2095500"/>
            <a:ext cx="2571750" cy="2457450"/>
          </a:xfrm>
          <a:prstGeom prst="roundRect">
            <a:avLst>
              <a:gd name="adj" fmla="val 5426"/>
            </a:avLst>
          </a:prstGeom>
          <a:solidFill>
            <a:srgbClr val="151929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849009-B492-4C15-9CA6-C43B49C801BD}"/>
              </a:ext>
            </a:extLst>
          </p:cNvPr>
          <p:cNvSpPr>
            <a:spLocks noGrp="1"/>
          </p:cNvSpPr>
          <p:nvPr/>
        </p:nvSpPr>
        <p:spPr>
          <a:xfrm>
            <a:off x="9277350" y="2266950"/>
            <a:ext cx="2190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SECURITY + RELIABILITY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B4856F3-6472-40F1-B410-E166D2BD8582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22669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38100" bIns="19050">
            <a:normAutofit fontScale="87053"/>
          </a:bodyPr>
          <a:lstStyle/>
          <a:p>
            <a:pPr marL="228600" indent="-114300">
              <a:lnSpc>
                <a:spcPct val="104000"/>
              </a:lnSpc>
              <a:spcAft>
                <a:spcPts val="400"/>
              </a:spcAft>
              <a:buNone/>
              <a:defRPr sz="11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EF0F8"/>
                </a:solidFill>
                <a:latin typeface="Arial"/>
                <a:ea typeface="Arial"/>
                <a:cs typeface="Arial"/>
              </a:rPr>
              <a:t>Read-only SELECT queries</a:t>
            </a:r>
          </a:p>
          <a:p>
            <a:pPr marL="228600" indent="-114300">
              <a:lnSpc>
                <a:spcPct val="104000"/>
              </a:lnSpc>
              <a:spcAft>
                <a:spcPts val="400"/>
              </a:spcAft>
              <a:buNone/>
              <a:defRPr sz="11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EF0F8"/>
                </a:solidFill>
                <a:latin typeface="Arial"/>
                <a:ea typeface="Arial"/>
                <a:cs typeface="Arial"/>
              </a:rPr>
              <a:t>Approved tables and functions</a:t>
            </a:r>
          </a:p>
          <a:p>
            <a:pPr marL="228600" indent="-114300">
              <a:lnSpc>
                <a:spcPct val="104000"/>
              </a:lnSpc>
              <a:spcAft>
                <a:spcPts val="400"/>
              </a:spcAft>
              <a:buNone/>
              <a:defRPr sz="11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EF0F8"/>
                </a:solidFill>
                <a:latin typeface="Arial"/>
                <a:ea typeface="Arial"/>
                <a:cs typeface="Arial"/>
              </a:rPr>
              <a:t>External access disabled</a:t>
            </a:r>
          </a:p>
          <a:p>
            <a:pPr marL="228600" indent="-114300">
              <a:lnSpc>
                <a:spcPct val="104000"/>
              </a:lnSpc>
              <a:spcAft>
                <a:spcPts val="400"/>
              </a:spcAft>
              <a:buNone/>
              <a:defRPr sz="11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EF0F8"/>
                </a:solidFill>
                <a:latin typeface="Arial"/>
                <a:ea typeface="Arial"/>
                <a:cs typeface="Arial"/>
              </a:rPr>
              <a:t>No recursive or multi-statement SQL</a:t>
            </a:r>
          </a:p>
          <a:p>
            <a:pPr marL="228600" indent="-114300">
              <a:lnSpc>
                <a:spcPct val="104000"/>
              </a:lnSpc>
              <a:spcAft>
                <a:spcPts val="400"/>
              </a:spcAft>
              <a:buNone/>
              <a:defRPr sz="11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EF0F8"/>
                </a:solidFill>
                <a:latin typeface="Arial"/>
                <a:ea typeface="Arial"/>
                <a:cs typeface="Arial"/>
              </a:rPr>
              <a:t>1,000-row result limit</a:t>
            </a:r>
          </a:p>
          <a:p>
            <a:pPr marL="228600" indent="-114300">
              <a:lnSpc>
                <a:spcPct val="104000"/>
              </a:lnSpc>
              <a:spcAft>
                <a:spcPts val="400"/>
              </a:spcAft>
              <a:buNone/>
              <a:defRPr sz="11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EF0F8"/>
                </a:solidFill>
                <a:latin typeface="Arial"/>
                <a:ea typeface="Arial"/>
                <a:cs typeface="Arial"/>
              </a:rPr>
              <a:t>512 MB memory limit</a:t>
            </a:r>
          </a:p>
          <a:p>
            <a:pPr marL="228600" indent="-114300">
              <a:lnSpc>
                <a:spcPct val="104000"/>
              </a:lnSpc>
              <a:spcAft>
                <a:spcPts val="400"/>
              </a:spcAft>
              <a:buNone/>
              <a:defRPr sz="11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EF0F8"/>
                </a:solidFill>
                <a:latin typeface="Arial"/>
                <a:ea typeface="Arial"/>
                <a:cs typeface="Arial"/>
              </a:rPr>
              <a:t>15-second execution timeout</a:t>
            </a:r>
          </a:p>
          <a:p>
            <a:pPr marL="228600" indent="-114300">
              <a:lnSpc>
                <a:spcPct val="104000"/>
              </a:lnSpc>
              <a:spcAft>
                <a:spcPts val="400"/>
              </a:spcAft>
              <a:buNone/>
              <a:defRPr sz="1125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EEF0F8"/>
                </a:solidFill>
                <a:latin typeface="Arial"/>
                <a:ea typeface="Arial"/>
                <a:cs typeface="Arial"/>
              </a:rPr>
              <a:t>Sensitive identity fields excluded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6F5D2C8-E290-43C9-B5FE-5717F4D85017}"/>
              </a:ext>
            </a:extLst>
          </p:cNvPr>
          <p:cNvSpPr>
            <a:spLocks noGrp="1"/>
          </p:cNvSpPr>
          <p:nvPr/>
        </p:nvSpPr>
        <p:spPr>
          <a:xfrm>
            <a:off x="514350" y="4848225"/>
            <a:ext cx="2667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SUPPORTED OUTPUTS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DB41EC2-482C-4A4A-962A-65879583626E}"/>
              </a:ext>
            </a:extLst>
          </p:cNvPr>
          <p:cNvSpPr>
            <a:spLocks noGrp="1"/>
          </p:cNvSpPr>
          <p:nvPr/>
        </p:nvSpPr>
        <p:spPr>
          <a:xfrm>
            <a:off x="514350" y="51435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2B825E-8372-45D4-AFFE-30632679BF86}"/>
              </a:ext>
            </a:extLst>
          </p:cNvPr>
          <p:cNvSpPr>
            <a:spLocks noGrp="1"/>
          </p:cNvSpPr>
          <p:nvPr/>
        </p:nvSpPr>
        <p:spPr>
          <a:xfrm>
            <a:off x="552450" y="5162550"/>
            <a:ext cx="1123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Bar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FA28DA0-F054-461F-B755-623CEFEDD48D}"/>
              </a:ext>
            </a:extLst>
          </p:cNvPr>
          <p:cNvSpPr>
            <a:spLocks noGrp="1"/>
          </p:cNvSpPr>
          <p:nvPr/>
        </p:nvSpPr>
        <p:spPr>
          <a:xfrm>
            <a:off x="1866900" y="51435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4144698-EBDB-4B31-97E2-B5FC2F1F9476}"/>
              </a:ext>
            </a:extLst>
          </p:cNvPr>
          <p:cNvSpPr>
            <a:spLocks noGrp="1"/>
          </p:cNvSpPr>
          <p:nvPr/>
        </p:nvSpPr>
        <p:spPr>
          <a:xfrm>
            <a:off x="1905000" y="5162550"/>
            <a:ext cx="1123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Line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3DBE335-328B-43C1-AEAD-D421D39E4332}"/>
              </a:ext>
            </a:extLst>
          </p:cNvPr>
          <p:cNvSpPr>
            <a:spLocks noGrp="1"/>
          </p:cNvSpPr>
          <p:nvPr/>
        </p:nvSpPr>
        <p:spPr>
          <a:xfrm>
            <a:off x="3219450" y="51435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44CDC1D-7320-424D-8B7C-A311C3E4E927}"/>
              </a:ext>
            </a:extLst>
          </p:cNvPr>
          <p:cNvSpPr>
            <a:spLocks noGrp="1"/>
          </p:cNvSpPr>
          <p:nvPr/>
        </p:nvSpPr>
        <p:spPr>
          <a:xfrm>
            <a:off x="3257550" y="5162550"/>
            <a:ext cx="1123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Scatter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679FB4F-C63C-40ED-843D-3AE8026BF6FF}"/>
              </a:ext>
            </a:extLst>
          </p:cNvPr>
          <p:cNvSpPr>
            <a:spLocks noGrp="1"/>
          </p:cNvSpPr>
          <p:nvPr/>
        </p:nvSpPr>
        <p:spPr>
          <a:xfrm>
            <a:off x="4572000" y="51435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794F87-58CF-4601-8FBD-A2CB6E17DEBA}"/>
              </a:ext>
            </a:extLst>
          </p:cNvPr>
          <p:cNvSpPr>
            <a:spLocks noGrp="1"/>
          </p:cNvSpPr>
          <p:nvPr/>
        </p:nvSpPr>
        <p:spPr>
          <a:xfrm>
            <a:off x="4610100" y="5162550"/>
            <a:ext cx="1123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Donut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B3486D8-0FB4-464E-BB97-1D7BC6517C3A}"/>
              </a:ext>
            </a:extLst>
          </p:cNvPr>
          <p:cNvSpPr>
            <a:spLocks noGrp="1"/>
          </p:cNvSpPr>
          <p:nvPr/>
        </p:nvSpPr>
        <p:spPr>
          <a:xfrm>
            <a:off x="5924550" y="51435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47BCF91-1B57-4C59-9565-43329DCB07A9}"/>
              </a:ext>
            </a:extLst>
          </p:cNvPr>
          <p:cNvSpPr>
            <a:spLocks noGrp="1"/>
          </p:cNvSpPr>
          <p:nvPr/>
        </p:nvSpPr>
        <p:spPr>
          <a:xfrm>
            <a:off x="5962650" y="5162550"/>
            <a:ext cx="1123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EDFF34F-7B36-4FD6-B47F-76CF7739F130}"/>
              </a:ext>
            </a:extLst>
          </p:cNvPr>
          <p:cNvSpPr>
            <a:spLocks noGrp="1"/>
          </p:cNvSpPr>
          <p:nvPr/>
        </p:nvSpPr>
        <p:spPr>
          <a:xfrm>
            <a:off x="7277100" y="5143500"/>
            <a:ext cx="1200150" cy="266700"/>
          </a:xfrm>
          <a:prstGeom prst="roundRect">
            <a:avLst>
              <a:gd name="adj" fmla="val 50000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5671005-EA13-41CE-BBEC-4F9F942E4185}"/>
              </a:ext>
            </a:extLst>
          </p:cNvPr>
          <p:cNvSpPr>
            <a:spLocks noGrp="1"/>
          </p:cNvSpPr>
          <p:nvPr/>
        </p:nvSpPr>
        <p:spPr>
          <a:xfrm>
            <a:off x="7315200" y="5162550"/>
            <a:ext cx="1123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B80A69C-72FC-4626-9707-81225E75918C}"/>
              </a:ext>
            </a:extLst>
          </p:cNvPr>
          <p:cNvSpPr>
            <a:spLocks noGrp="1"/>
          </p:cNvSpPr>
          <p:nvPr/>
        </p:nvSpPr>
        <p:spPr>
          <a:xfrm>
            <a:off x="514350" y="5657850"/>
            <a:ext cx="11144250" cy="523875"/>
          </a:xfrm>
          <a:prstGeom prst="roundRect">
            <a:avLst>
              <a:gd name="adj" fmla="val 21818"/>
            </a:avLst>
          </a:prstGeom>
          <a:solidFill>
            <a:srgbClr val="10141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01245EE-64C2-4AE5-BB17-72DAE7174841}"/>
              </a:ext>
            </a:extLst>
          </p:cNvPr>
          <p:cNvSpPr>
            <a:spLocks noGrp="1"/>
          </p:cNvSpPr>
          <p:nvPr/>
        </p:nvSpPr>
        <p:spPr>
          <a:xfrm>
            <a:off x="723900" y="5781675"/>
            <a:ext cx="10725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Every analytical response retains the exact executed SQL so evaluators can inspect the evidence path.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CE0E817-F2D4-46D0-2E3A-CB462B59B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90801"/>
            <a:ext cx="4419600" cy="173355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D2DB4F3-6E75-088F-3880-DECE4AEF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905" y="2571750"/>
            <a:ext cx="3086100" cy="173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8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1A7121B-11A3-4876-A55B-B8F8C940C058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Every project step is reproducible and verifiable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6222BA-83BA-40F5-839F-2787C539EE65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E13652-56FD-4969-AB46-955D29BE234E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195C5C-BA0E-44D8-9144-B702045BF942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917C3-FD46-49EF-AD47-08D61FBFB042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ADAE4F-DB04-4570-AC45-5D8EFCDC1975}"/>
              </a:ext>
            </a:extLst>
          </p:cNvPr>
          <p:cNvSpPr>
            <a:spLocks noGrp="1"/>
          </p:cNvSpPr>
          <p:nvPr/>
        </p:nvSpPr>
        <p:spPr>
          <a:xfrm>
            <a:off x="514350" y="1219200"/>
            <a:ext cx="64389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7D83B5-5F8A-4D08-8BC0-91E73E185D1C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INSTALLATION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9442C-0B09-4BC3-A495-7E296E96EA39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6076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python -m pip install -r requirements.txt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570369-B44C-47BC-8B1F-26E28D8E208F}"/>
              </a:ext>
            </a:extLst>
          </p:cNvPr>
          <p:cNvSpPr>
            <a:spLocks noGrp="1"/>
          </p:cNvSpPr>
          <p:nvPr/>
        </p:nvSpPr>
        <p:spPr>
          <a:xfrm>
            <a:off x="514350" y="2114550"/>
            <a:ext cx="64389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3F2EC9-8B2B-43C1-BFAD-D6F43094AB6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GROQ CONFIGURATION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7E79A5-158D-4915-9C1A-94CFD0E4E9BD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6076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GROQ_API_KEY=your-groq-api-key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B69795-417B-4D2F-95BF-1CF902F939D1}"/>
              </a:ext>
            </a:extLst>
          </p:cNvPr>
          <p:cNvSpPr>
            <a:spLocks noGrp="1"/>
          </p:cNvSpPr>
          <p:nvPr/>
        </p:nvSpPr>
        <p:spPr>
          <a:xfrm>
            <a:off x="514350" y="3009900"/>
            <a:ext cx="64389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18B96C-96C1-49EA-91A4-41C4A7E4D949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FINAL APPLICATION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DA0E47-EFD7-442F-868E-E51A270AD063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6076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python app.py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F69EED-1D9D-4628-A7A3-A21E012FD3BF}"/>
              </a:ext>
            </a:extLst>
          </p:cNvPr>
          <p:cNvSpPr>
            <a:spLocks noGrp="1"/>
          </p:cNvSpPr>
          <p:nvPr/>
        </p:nvSpPr>
        <p:spPr>
          <a:xfrm>
            <a:off x="514350" y="3905250"/>
            <a:ext cx="6438900" cy="647700"/>
          </a:xfrm>
          <a:prstGeom prst="roundRect">
            <a:avLst>
              <a:gd name="adj" fmla="val 17647"/>
            </a:avLst>
          </a:prstGeom>
          <a:solidFill>
            <a:srgbClr val="1014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47B4A3-31FB-46C8-96FC-5AA384A10602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CLEANING-ONLY VERIFICATION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227D02-274E-470F-8E8E-B7A0CC22BF93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6076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python pipeline/clean_pipeline.py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E77D49-744A-4F2F-902F-B5596CF395FF}"/>
              </a:ext>
            </a:extLst>
          </p:cNvPr>
          <p:cNvSpPr>
            <a:spLocks noGrp="1"/>
          </p:cNvSpPr>
          <p:nvPr/>
        </p:nvSpPr>
        <p:spPr>
          <a:xfrm>
            <a:off x="514350" y="4800600"/>
            <a:ext cx="6438900" cy="762000"/>
          </a:xfrm>
          <a:prstGeom prst="roundRect">
            <a:avLst>
              <a:gd name="adj" fmla="val 15000"/>
            </a:avLst>
          </a:prstGeom>
          <a:solidFill>
            <a:srgbClr val="10141F"/>
          </a:solidFill>
          <a:ln w="9525">
            <a:solidFill>
              <a:srgbClr val="F43F5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4F8DFA-0144-4339-9A42-F0AEB4681EE9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F43F5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3F5E"/>
                </a:solidFill>
                <a:latin typeface="Arial"/>
                <a:ea typeface="Arial"/>
                <a:cs typeface="Arial"/>
              </a:rPr>
              <a:t>AUTOMATED VALIDATION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CB14F0-5AA5-4354-883F-120F1594E6D0}"/>
              </a:ext>
            </a:extLst>
          </p:cNvPr>
          <p:cNvSpPr>
            <a:spLocks noGrp="1"/>
          </p:cNvSpPr>
          <p:nvPr/>
        </p:nvSpPr>
        <p:spPr>
          <a:xfrm>
            <a:off x="685800" y="5076825"/>
            <a:ext cx="60769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python -m unittest test_ai_strategist test_enterprise_ui -v</a:t>
            </a:r>
          </a:p>
          <a:p>
            <a:pPr algn="l">
              <a:lnSpc>
                <a:spcPct val="100000"/>
              </a:lnSpc>
              <a:buNone/>
              <a:defRPr sz="1200" b="0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EF0F8"/>
                </a:solidFill>
                <a:latin typeface="Arial"/>
                <a:ea typeface="Arial"/>
                <a:cs typeface="Arial"/>
              </a:rPr>
              <a:t>python verify_dashboard.py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E5A3709-EEF0-405E-90BF-438522FB27C4}"/>
              </a:ext>
            </a:extLst>
          </p:cNvPr>
          <p:cNvSpPr>
            <a:spLocks noGrp="1"/>
          </p:cNvSpPr>
          <p:nvPr/>
        </p:nvSpPr>
        <p:spPr>
          <a:xfrm>
            <a:off x="7315200" y="1219200"/>
            <a:ext cx="4343400" cy="3429000"/>
          </a:xfrm>
          <a:prstGeom prst="roundRect">
            <a:avLst>
              <a:gd name="adj" fmla="val 3889"/>
            </a:avLst>
          </a:prstGeom>
          <a:solidFill>
            <a:srgbClr val="151929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0BD062-B9A9-4B01-86F5-15B1F4949D59}"/>
              </a:ext>
            </a:extLst>
          </p:cNvPr>
          <p:cNvSpPr>
            <a:spLocks noGrp="1"/>
          </p:cNvSpPr>
          <p:nvPr/>
        </p:nvSpPr>
        <p:spPr>
          <a:xfrm>
            <a:off x="7524750" y="1409700"/>
            <a:ext cx="3810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EVIDENCE FILES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83717D-65AE-4C67-ACB5-04C45BDCFE53}"/>
              </a:ext>
            </a:extLst>
          </p:cNvPr>
          <p:cNvSpPr>
            <a:spLocks noGrp="1"/>
          </p:cNvSpPr>
          <p:nvPr/>
        </p:nvSpPr>
        <p:spPr>
          <a:xfrm>
            <a:off x="7524750" y="1781175"/>
            <a:ext cx="3924300" cy="361950"/>
          </a:xfrm>
          <a:prstGeom prst="roundRect">
            <a:avLst>
              <a:gd name="adj" fmla="val 23684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46FBD5-8436-49C8-923B-7374F45D4377}"/>
              </a:ext>
            </a:extLst>
          </p:cNvPr>
          <p:cNvSpPr>
            <a:spLocks noGrp="1"/>
          </p:cNvSpPr>
          <p:nvPr/>
        </p:nvSpPr>
        <p:spPr>
          <a:xfrm>
            <a:off x="7677150" y="18478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README.md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F905655-BBB6-4570-8F95-64A3A3EFA9C3}"/>
              </a:ext>
            </a:extLst>
          </p:cNvPr>
          <p:cNvSpPr>
            <a:spLocks noGrp="1"/>
          </p:cNvSpPr>
          <p:nvPr/>
        </p:nvSpPr>
        <p:spPr>
          <a:xfrm>
            <a:off x="7524750" y="2276475"/>
            <a:ext cx="3924300" cy="361950"/>
          </a:xfrm>
          <a:prstGeom prst="roundRect">
            <a:avLst>
              <a:gd name="adj" fmla="val 23684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875748-8B8D-4FCA-B0AF-845F233B7FB8}"/>
              </a:ext>
            </a:extLst>
          </p:cNvPr>
          <p:cNvSpPr>
            <a:spLocks noGrp="1"/>
          </p:cNvSpPr>
          <p:nvPr/>
        </p:nvSpPr>
        <p:spPr>
          <a:xfrm>
            <a:off x="7677150" y="23431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DATA_DICTIONARY.md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2B1E8B-A1AF-428C-BE76-229145CECF6E}"/>
              </a:ext>
            </a:extLst>
          </p:cNvPr>
          <p:cNvSpPr>
            <a:spLocks noGrp="1"/>
          </p:cNvSpPr>
          <p:nvPr/>
        </p:nvSpPr>
        <p:spPr>
          <a:xfrm>
            <a:off x="7524750" y="2771775"/>
            <a:ext cx="3924300" cy="361950"/>
          </a:xfrm>
          <a:prstGeom prst="roundRect">
            <a:avLst>
              <a:gd name="adj" fmla="val 23684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FCFCBB-FD78-4E82-A865-E5F283091D1C}"/>
              </a:ext>
            </a:extLst>
          </p:cNvPr>
          <p:cNvSpPr>
            <a:spLocks noGrp="1"/>
          </p:cNvSpPr>
          <p:nvPr/>
        </p:nvSpPr>
        <p:spPr>
          <a:xfrm>
            <a:off x="7677150" y="28384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AUDIT_PROOF.md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940EE20-FB39-479F-98CB-4E8E7A004278}"/>
              </a:ext>
            </a:extLst>
          </p:cNvPr>
          <p:cNvSpPr>
            <a:spLocks noGrp="1"/>
          </p:cNvSpPr>
          <p:nvPr/>
        </p:nvSpPr>
        <p:spPr>
          <a:xfrm>
            <a:off x="7524750" y="3267075"/>
            <a:ext cx="3924300" cy="361950"/>
          </a:xfrm>
          <a:prstGeom prst="roundRect">
            <a:avLst>
              <a:gd name="adj" fmla="val 23684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ADE101-5BD4-40E3-86CB-60F2B0C1A771}"/>
              </a:ext>
            </a:extLst>
          </p:cNvPr>
          <p:cNvSpPr>
            <a:spLocks noGrp="1"/>
          </p:cNvSpPr>
          <p:nvPr/>
        </p:nvSpPr>
        <p:spPr>
          <a:xfrm>
            <a:off x="7677150" y="33337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pipeline/clean_pipeline.py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B17908-A708-4C6F-ACEE-32F2D445F6B8}"/>
              </a:ext>
            </a:extLst>
          </p:cNvPr>
          <p:cNvSpPr>
            <a:spLocks noGrp="1"/>
          </p:cNvSpPr>
          <p:nvPr/>
        </p:nvSpPr>
        <p:spPr>
          <a:xfrm>
            <a:off x="7524750" y="3762375"/>
            <a:ext cx="3924300" cy="361950"/>
          </a:xfrm>
          <a:prstGeom prst="roundRect">
            <a:avLst>
              <a:gd name="adj" fmla="val 23684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B91273-093A-4D37-BA0F-29BBF5BC7942}"/>
              </a:ext>
            </a:extLst>
          </p:cNvPr>
          <p:cNvSpPr>
            <a:spLocks noGrp="1"/>
          </p:cNvSpPr>
          <p:nvPr/>
        </p:nvSpPr>
        <p:spPr>
          <a:xfrm>
            <a:off x="7677150" y="38290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data/processed/audit_proof.json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538D39A-1262-4D11-B655-E6966DEA21A3}"/>
              </a:ext>
            </a:extLst>
          </p:cNvPr>
          <p:cNvSpPr>
            <a:spLocks noGrp="1"/>
          </p:cNvSpPr>
          <p:nvPr/>
        </p:nvSpPr>
        <p:spPr>
          <a:xfrm>
            <a:off x="7315200" y="4895850"/>
            <a:ext cx="4343400" cy="1066800"/>
          </a:xfrm>
          <a:prstGeom prst="roundRect">
            <a:avLst>
              <a:gd name="adj" fmla="val 12500"/>
            </a:avLst>
          </a:prstGeom>
          <a:solidFill>
            <a:srgbClr val="10141F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359BAC-83B8-4FFD-B6A8-6CCF2BB64CA7}"/>
              </a:ext>
            </a:extLst>
          </p:cNvPr>
          <p:cNvSpPr>
            <a:spLocks noGrp="1"/>
          </p:cNvSpPr>
          <p:nvPr/>
        </p:nvSpPr>
        <p:spPr>
          <a:xfrm>
            <a:off x="7524750" y="5057775"/>
            <a:ext cx="3905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DATA DICTIONARY COVERAGE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9565E-A9BC-4D61-81D1-9C9CE3352CF4}"/>
              </a:ext>
            </a:extLst>
          </p:cNvPr>
          <p:cNvSpPr>
            <a:spLocks noGrp="1"/>
          </p:cNvSpPr>
          <p:nvPr/>
        </p:nvSpPr>
        <p:spPr>
          <a:xfrm>
            <a:off x="7524750" y="5343525"/>
            <a:ext cx="38862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8614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Every generated dataset column documents its type, meaning, key role, and cleaning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478931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4603684-FA70-497E-B1D5-6DC85D996DE4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102870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625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AgentIQ delivers governed payment-risk intelligence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DF54C0-56D5-4334-A9EE-8ADCE625A248}"/>
              </a:ext>
            </a:extLst>
          </p:cNvPr>
          <p:cNvSpPr>
            <a:spLocks noGrp="1"/>
          </p:cNvSpPr>
          <p:nvPr/>
        </p:nvSpPr>
        <p:spPr>
          <a:xfrm>
            <a:off x="11144250" y="400050"/>
            <a:ext cx="514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35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FD00BC-8285-4F96-ABD4-404DC468C144}"/>
              </a:ext>
            </a:extLst>
          </p:cNvPr>
          <p:cNvSpPr>
            <a:spLocks noGrp="1"/>
          </p:cNvSpPr>
          <p:nvPr/>
        </p:nvSpPr>
        <p:spPr>
          <a:xfrm>
            <a:off x="514350" y="914400"/>
            <a:ext cx="819150" cy="28575"/>
          </a:xfrm>
          <a:prstGeom prst="rect">
            <a:avLst/>
          </a:prstGeom>
          <a:solidFill>
            <a:srgbClr val="06B6D4"/>
          </a:solidFill>
          <a:ln w="0">
            <a:solidFill>
              <a:srgbClr val="06B6D4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54C45E-25AD-4E5D-87D0-EA6D4D452205}"/>
              </a:ext>
            </a:extLst>
          </p:cNvPr>
          <p:cNvSpPr>
            <a:spLocks noGrp="1"/>
          </p:cNvSpPr>
          <p:nvPr/>
        </p:nvSpPr>
        <p:spPr>
          <a:xfrm>
            <a:off x="1333500" y="914400"/>
            <a:ext cx="55245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6366F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7354-0D83-4C5A-B469-E63E560B8929}"/>
              </a:ext>
            </a:extLst>
          </p:cNvPr>
          <p:cNvSpPr>
            <a:spLocks noGrp="1"/>
          </p:cNvSpPr>
          <p:nvPr/>
        </p:nvSpPr>
        <p:spPr>
          <a:xfrm>
            <a:off x="514350" y="6505575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B95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5B0"/>
                </a:solidFill>
                <a:latin typeface="Arial"/>
                <a:ea typeface="Arial"/>
                <a:cs typeface="Arial"/>
              </a:rPr>
              <a:t>AGENTIQ FINTECH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D6DF09-9CED-480D-BCC7-6FFD1687BC3D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4810125" cy="666750"/>
          </a:xfrm>
          <a:prstGeom prst="roundRect">
            <a:avLst>
              <a:gd name="adj" fmla="val 1714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EFF2D2-EDFC-40A3-941F-308BA130B597}"/>
              </a:ext>
            </a:extLst>
          </p:cNvPr>
          <p:cNvSpPr>
            <a:spLocks noGrp="1"/>
          </p:cNvSpPr>
          <p:nvPr/>
        </p:nvSpPr>
        <p:spPr>
          <a:xfrm>
            <a:off x="514350" y="1257300"/>
            <a:ext cx="47625" cy="6667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66900B-B03E-4862-B4D7-A7C12C706F0D}"/>
              </a:ext>
            </a:extLst>
          </p:cNvPr>
          <p:cNvSpPr>
            <a:spLocks noGrp="1"/>
          </p:cNvSpPr>
          <p:nvPr/>
        </p:nvSpPr>
        <p:spPr>
          <a:xfrm>
            <a:off x="723900" y="1419225"/>
            <a:ext cx="419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1FBB6A-0B43-45F0-B2EE-6F3B2B882BD2}"/>
              </a:ext>
            </a:extLst>
          </p:cNvPr>
          <p:cNvSpPr>
            <a:spLocks noGrp="1"/>
          </p:cNvSpPr>
          <p:nvPr/>
        </p:nvSpPr>
        <p:spPr>
          <a:xfrm>
            <a:off x="1238250" y="1371600"/>
            <a:ext cx="3857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Faster identification of payment-risk concentrations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628DC0-51D3-4BF3-A959-9883A13A5705}"/>
              </a:ext>
            </a:extLst>
          </p:cNvPr>
          <p:cNvSpPr>
            <a:spLocks noGrp="1"/>
          </p:cNvSpPr>
          <p:nvPr/>
        </p:nvSpPr>
        <p:spPr>
          <a:xfrm>
            <a:off x="514350" y="2105025"/>
            <a:ext cx="4810125" cy="666750"/>
          </a:xfrm>
          <a:prstGeom prst="roundRect">
            <a:avLst>
              <a:gd name="adj" fmla="val 1714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B2BBF7-9A20-4EAA-AB2E-507F265DBB49}"/>
              </a:ext>
            </a:extLst>
          </p:cNvPr>
          <p:cNvSpPr>
            <a:spLocks noGrp="1"/>
          </p:cNvSpPr>
          <p:nvPr/>
        </p:nvSpPr>
        <p:spPr>
          <a:xfrm>
            <a:off x="514350" y="2105025"/>
            <a:ext cx="47625" cy="6667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C03EB4-ABD1-48FD-8D80-4BC2412B6191}"/>
              </a:ext>
            </a:extLst>
          </p:cNvPr>
          <p:cNvSpPr>
            <a:spLocks noGrp="1"/>
          </p:cNvSpPr>
          <p:nvPr/>
        </p:nvSpPr>
        <p:spPr>
          <a:xfrm>
            <a:off x="723900" y="2266950"/>
            <a:ext cx="419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6366F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366F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08F19A-76AA-49A2-8D3E-3DEC446953BF}"/>
              </a:ext>
            </a:extLst>
          </p:cNvPr>
          <p:cNvSpPr>
            <a:spLocks noGrp="1"/>
          </p:cNvSpPr>
          <p:nvPr/>
        </p:nvSpPr>
        <p:spPr>
          <a:xfrm>
            <a:off x="1238250" y="2219325"/>
            <a:ext cx="3857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Explainable merchant and identity-risk prioritization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602B91-F6C2-473E-96A2-CF87A7EC9EA9}"/>
              </a:ext>
            </a:extLst>
          </p:cNvPr>
          <p:cNvSpPr>
            <a:spLocks noGrp="1"/>
          </p:cNvSpPr>
          <p:nvPr/>
        </p:nvSpPr>
        <p:spPr>
          <a:xfrm>
            <a:off x="514350" y="2952750"/>
            <a:ext cx="4810125" cy="666750"/>
          </a:xfrm>
          <a:prstGeom prst="roundRect">
            <a:avLst>
              <a:gd name="adj" fmla="val 1714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0CF210-F30E-4B05-B44C-B50A8B30327A}"/>
              </a:ext>
            </a:extLst>
          </p:cNvPr>
          <p:cNvSpPr>
            <a:spLocks noGrp="1"/>
          </p:cNvSpPr>
          <p:nvPr/>
        </p:nvSpPr>
        <p:spPr>
          <a:xfrm>
            <a:off x="514350" y="2952750"/>
            <a:ext cx="47625" cy="666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6F318-E19B-43CC-B139-7C2EC86FF417}"/>
              </a:ext>
            </a:extLst>
          </p:cNvPr>
          <p:cNvSpPr>
            <a:spLocks noGrp="1"/>
          </p:cNvSpPr>
          <p:nvPr/>
        </p:nvSpPr>
        <p:spPr>
          <a:xfrm>
            <a:off x="723900" y="3114675"/>
            <a:ext cx="419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76EBBB-14D8-4ECE-904C-5B70D9DFC03F}"/>
              </a:ext>
            </a:extLst>
          </p:cNvPr>
          <p:cNvSpPr>
            <a:spLocks noGrp="1"/>
          </p:cNvSpPr>
          <p:nvPr/>
        </p:nvSpPr>
        <p:spPr>
          <a:xfrm>
            <a:off x="1238250" y="3067050"/>
            <a:ext cx="3857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Network-level investigation beyond isolated transactions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9E8F125-5F60-481B-AAE5-A896D21FC027}"/>
              </a:ext>
            </a:extLst>
          </p:cNvPr>
          <p:cNvSpPr>
            <a:spLocks noGrp="1"/>
          </p:cNvSpPr>
          <p:nvPr/>
        </p:nvSpPr>
        <p:spPr>
          <a:xfrm>
            <a:off x="514350" y="3800475"/>
            <a:ext cx="4810125" cy="666750"/>
          </a:xfrm>
          <a:prstGeom prst="roundRect">
            <a:avLst>
              <a:gd name="adj" fmla="val 17143"/>
            </a:avLst>
          </a:prstGeom>
          <a:solidFill>
            <a:srgbClr val="10141F"/>
          </a:solidFill>
          <a:ln w="9525">
            <a:solidFill>
              <a:srgbClr val="252C3D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7D82EC-E9CF-4EDA-9491-E70BDD0B5E95}"/>
              </a:ext>
            </a:extLst>
          </p:cNvPr>
          <p:cNvSpPr>
            <a:spLocks noGrp="1"/>
          </p:cNvSpPr>
          <p:nvPr/>
        </p:nvSpPr>
        <p:spPr>
          <a:xfrm>
            <a:off x="514350" y="3800475"/>
            <a:ext cx="47625" cy="666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620B12-B91F-4188-9BC1-77780E400133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419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D6AF21-AB9E-4C4E-ACB5-13DB6754FF0B}"/>
              </a:ext>
            </a:extLst>
          </p:cNvPr>
          <p:cNvSpPr>
            <a:spLocks noGrp="1"/>
          </p:cNvSpPr>
          <p:nvPr/>
        </p:nvSpPr>
        <p:spPr>
          <a:xfrm>
            <a:off x="1238250" y="3914775"/>
            <a:ext cx="3857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Auditable AI-assisted analytics with transparent SQL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8B4B050-8D65-4A08-8469-AE7C03BBE883}"/>
              </a:ext>
            </a:extLst>
          </p:cNvPr>
          <p:cNvSpPr>
            <a:spLocks noGrp="1"/>
          </p:cNvSpPr>
          <p:nvPr/>
        </p:nvSpPr>
        <p:spPr>
          <a:xfrm>
            <a:off x="5734050" y="1257300"/>
            <a:ext cx="5924550" cy="3209925"/>
          </a:xfrm>
          <a:prstGeom prst="roundRect">
            <a:avLst>
              <a:gd name="adj" fmla="val 3561"/>
            </a:avLst>
          </a:prstGeom>
          <a:solidFill>
            <a:srgbClr val="10141F"/>
          </a:solidFill>
          <a:ln w="9525">
            <a:solidFill>
              <a:srgbClr val="8B95B0"/>
            </a:solidFill>
            <a:prstDash val="dash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456740-2D39-41D7-9FFC-DF2A7C70E184}"/>
              </a:ext>
            </a:extLst>
          </p:cNvPr>
          <p:cNvSpPr>
            <a:spLocks noGrp="1"/>
          </p:cNvSpPr>
          <p:nvPr/>
        </p:nvSpPr>
        <p:spPr>
          <a:xfrm>
            <a:off x="5886450" y="1304925"/>
            <a:ext cx="5581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EEF0F8"/>
                </a:solidFill>
                <a:latin typeface="Arial"/>
                <a:ea typeface="Arial"/>
                <a:cs typeface="Arial"/>
              </a:rPr>
              <a:t>Final dashboard overview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5E985E-1CF3-4B6B-838D-426521FD58F4}"/>
              </a:ext>
            </a:extLst>
          </p:cNvPr>
          <p:cNvSpPr>
            <a:spLocks noGrp="1"/>
          </p:cNvSpPr>
          <p:nvPr/>
        </p:nvSpPr>
        <p:spPr>
          <a:xfrm>
            <a:off x="514350" y="4962525"/>
            <a:ext cx="11144250" cy="990600"/>
          </a:xfrm>
          <a:prstGeom prst="roundRect">
            <a:avLst>
              <a:gd name="adj" fmla="val 15385"/>
            </a:avLst>
          </a:prstGeom>
          <a:solidFill>
            <a:srgbClr val="151929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010EF0-D252-4DA2-B323-E7E6D28861E3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104965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4244"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EEF0F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EF0F8"/>
                </a:solidFill>
                <a:latin typeface="Arial"/>
                <a:ea typeface="Arial"/>
                <a:cs typeface="Arial"/>
              </a:rPr>
              <a:t>“AgentIQ converts corrupted payment data into governed intelligence—combining reproducible data engineering, statistical anomaly detection, graph analytics, and controlled generative AI in one investigation workspace.”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AB1388E-C839-4C38-B535-ACBA15CCD032}"/>
              </a:ext>
            </a:extLst>
          </p:cNvPr>
          <p:cNvSpPr>
            <a:spLocks noGrp="1"/>
          </p:cNvSpPr>
          <p:nvPr/>
        </p:nvSpPr>
        <p:spPr>
          <a:xfrm>
            <a:off x="514350" y="6134100"/>
            <a:ext cx="11144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 fontScale="87719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06B6D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B6D4"/>
                </a:solidFill>
                <a:latin typeface="Arial"/>
                <a:ea typeface="Arial"/>
                <a:cs typeface="Arial"/>
              </a:rPr>
              <a:t>From raw payment records to investigation-ready intelligence.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ECD0C09-A364-6536-3734-AB689ED36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48" y="1676400"/>
            <a:ext cx="5581651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379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2238</Words>
  <Application>Microsoft Office PowerPoint</Application>
  <DocSecurity>0</DocSecurity>
  <PresentationFormat>Widescreen</PresentationFormat>
  <Paragraphs>439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Harshit .</cp:lastModifiedBy>
  <cp:revision>6</cp:revision>
  <dcterms:created xsi:type="dcterms:W3CDTF">2026-09-16T14:17:57Z</dcterms:created>
  <dcterms:modified xsi:type="dcterms:W3CDTF">2026-09-16T16:34:36Z</dcterms:modified>
</cp:coreProperties>
</file>